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827" y="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40AF9-E2B9-44A5-9A6C-BCF3854D088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62F46-AA25-4B20-9BD7-7E7188F0E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43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62F46-AA25-4B20-9BD7-7E7188F0EC1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94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6030" y="1571625"/>
            <a:ext cx="5071929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5400" b="1" dirty="0">
                <a:solidFill>
                  <a:srgbClr val="484848"/>
                </a:solidFill>
                <a:latin typeface="Roboto"/>
              </a:rPr>
              <a:t>Hasnat Saifullah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964406" y="2428875"/>
            <a:ext cx="7358063" cy="857250"/>
            <a:chOff x="1865757" y="2428875"/>
            <a:chExt cx="5412495" cy="857250"/>
          </a:xfrm>
        </p:grpSpPr>
        <p:sp>
          <p:nvSpPr>
            <p:cNvPr id="3" name="TextBox 2"/>
            <p:cNvSpPr txBox="1"/>
            <p:nvPr/>
          </p:nvSpPr>
          <p:spPr>
            <a:xfrm>
              <a:off x="1865757" y="2428875"/>
              <a:ext cx="541249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>
                  <a:solidFill>
                    <a:srgbClr val="484848"/>
                  </a:solidFill>
                  <a:latin typeface="Roboto"/>
                </a:rPr>
                <a:t>Senior Officer – Internal Control &amp; Compliance at Bay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865757" y="2714625"/>
              <a:ext cx="541249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 dirty="0">
                  <a:solidFill>
                    <a:srgbClr val="484848"/>
                  </a:solidFill>
                  <a:latin typeface="Roboto"/>
                </a:rPr>
                <a:t>Leasing &amp; Investment Ltd. JAIBB | Data-Driven</a:t>
              </a:r>
              <a:r>
                <a:rPr lang="en-US" dirty="0">
                  <a:solidFill>
                    <a:srgbClr val="484848"/>
                  </a:solidFill>
                  <a:latin typeface="Roboto"/>
                </a:rPr>
                <a:t> Strategist</a:t>
              </a:r>
              <a:endParaRPr sz="1800" b="0" dirty="0">
                <a:solidFill>
                  <a:srgbClr val="484848"/>
                </a:solidFill>
                <a:latin typeface="Roboto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65757" y="3000375"/>
              <a:ext cx="541249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 dirty="0">
                  <a:solidFill>
                    <a:srgbClr val="484848"/>
                  </a:solidFill>
                  <a:latin typeface="Roboto"/>
                </a:rPr>
                <a:t>MIS Dashboard Developer | Credit Risk</a:t>
              </a:r>
              <a:r>
                <a:rPr lang="en-US" dirty="0">
                  <a:solidFill>
                    <a:srgbClr val="484848"/>
                  </a:solidFill>
                  <a:latin typeface="Roboto"/>
                </a:rPr>
                <a:t> Analyst</a:t>
              </a:r>
            </a:p>
            <a:p>
              <a:pPr algn="ctr"/>
              <a:endParaRPr sz="1800" b="0" dirty="0">
                <a:solidFill>
                  <a:srgbClr val="484848"/>
                </a:solidFill>
                <a:latin typeface="Robot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>
        <p14:reveal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0099" y="2393169"/>
            <a:ext cx="2067582" cy="1172194"/>
          </a:xfrm>
          <a:custGeom>
            <a:avLst/>
            <a:gdLst/>
            <a:ahLst/>
            <a:cxnLst/>
            <a:rect l="0" t="0" r="0" b="0"/>
            <a:pathLst>
              <a:path w="2067582" h="1172194">
                <a:moveTo>
                  <a:pt x="206854" y="586101"/>
                </a:moveTo>
                <a:cubicBezTo>
                  <a:pt x="206854" y="376647"/>
                  <a:pt x="376647" y="206854"/>
                  <a:pt x="586101" y="206854"/>
                </a:cubicBezTo>
                <a:lnTo>
                  <a:pt x="1482480" y="206854"/>
                </a:lnTo>
                <a:cubicBezTo>
                  <a:pt x="1636214" y="206854"/>
                  <a:pt x="1768582" y="298332"/>
                  <a:pt x="1828133" y="429815"/>
                </a:cubicBezTo>
                <a:cubicBezTo>
                  <a:pt x="1872081" y="419290"/>
                  <a:pt x="1917963" y="413718"/>
                  <a:pt x="1965150" y="413718"/>
                </a:cubicBezTo>
                <a:lnTo>
                  <a:pt x="2042817" y="413718"/>
                </a:lnTo>
                <a:cubicBezTo>
                  <a:pt x="1969208" y="174155"/>
                  <a:pt x="1746180" y="0"/>
                  <a:pt x="1482480" y="0"/>
                </a:cubicBezTo>
                <a:lnTo>
                  <a:pt x="586101" y="0"/>
                </a:lnTo>
                <a:cubicBezTo>
                  <a:pt x="262404" y="0"/>
                  <a:pt x="0" y="262404"/>
                  <a:pt x="0" y="586101"/>
                </a:cubicBezTo>
                <a:cubicBezTo>
                  <a:pt x="0" y="909789"/>
                  <a:pt x="262404" y="1172194"/>
                  <a:pt x="586101" y="1172194"/>
                </a:cubicBezTo>
                <a:lnTo>
                  <a:pt x="1482480" y="1172194"/>
                </a:lnTo>
                <a:cubicBezTo>
                  <a:pt x="1529667" y="1172194"/>
                  <a:pt x="1575549" y="1166622"/>
                  <a:pt x="1619507" y="1156096"/>
                </a:cubicBezTo>
                <a:cubicBezTo>
                  <a:pt x="1866318" y="1096975"/>
                  <a:pt x="2052437" y="881710"/>
                  <a:pt x="2067582" y="620572"/>
                </a:cubicBezTo>
                <a:lnTo>
                  <a:pt x="1965150" y="620572"/>
                </a:lnTo>
                <a:cubicBezTo>
                  <a:pt x="1928117" y="620572"/>
                  <a:pt x="1892331" y="625878"/>
                  <a:pt x="1858498" y="635774"/>
                </a:cubicBezTo>
                <a:cubicBezTo>
                  <a:pt x="1838848" y="785993"/>
                  <a:pt x="1731283" y="908561"/>
                  <a:pt x="1589141" y="950137"/>
                </a:cubicBezTo>
                <a:cubicBezTo>
                  <a:pt x="1555308" y="960034"/>
                  <a:pt x="1519513" y="965339"/>
                  <a:pt x="1482480" y="965339"/>
                </a:cubicBezTo>
                <a:lnTo>
                  <a:pt x="586101" y="965339"/>
                </a:lnTo>
                <a:cubicBezTo>
                  <a:pt x="376647" y="965339"/>
                  <a:pt x="206854" y="795547"/>
                  <a:pt x="206854" y="586101"/>
                </a:cubicBezTo>
              </a:path>
            </a:pathLst>
          </a:custGeom>
          <a:solidFill>
            <a:srgbClr val="1EABDA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0099" y="2393169"/>
            <a:ext cx="2067583" cy="1172196"/>
          </a:xfrm>
          <a:custGeom>
            <a:avLst/>
            <a:gdLst/>
            <a:ahLst/>
            <a:cxnLst/>
            <a:rect l="0" t="0" r="0" b="0"/>
            <a:pathLst>
              <a:path w="2067583" h="1172196">
                <a:moveTo>
                  <a:pt x="206858" y="586098"/>
                </a:moveTo>
                <a:cubicBezTo>
                  <a:pt x="206858" y="376649"/>
                  <a:pt x="376649" y="206858"/>
                  <a:pt x="586098" y="206858"/>
                </a:cubicBezTo>
                <a:lnTo>
                  <a:pt x="1482483" y="206858"/>
                </a:lnTo>
                <a:cubicBezTo>
                  <a:pt x="1636216" y="206858"/>
                  <a:pt x="1768585" y="298331"/>
                  <a:pt x="1828129" y="429820"/>
                </a:cubicBezTo>
                <a:cubicBezTo>
                  <a:pt x="1872085" y="419292"/>
                  <a:pt x="1917968" y="413716"/>
                  <a:pt x="1965152" y="413716"/>
                </a:cubicBezTo>
                <a:lnTo>
                  <a:pt x="2042820" y="413716"/>
                </a:lnTo>
                <a:cubicBezTo>
                  <a:pt x="1969209" y="174151"/>
                  <a:pt x="1746183" y="0"/>
                  <a:pt x="1482483" y="0"/>
                </a:cubicBezTo>
                <a:lnTo>
                  <a:pt x="586098" y="0"/>
                </a:lnTo>
                <a:cubicBezTo>
                  <a:pt x="262405" y="0"/>
                  <a:pt x="0" y="262405"/>
                  <a:pt x="0" y="586098"/>
                </a:cubicBezTo>
                <a:cubicBezTo>
                  <a:pt x="0" y="909790"/>
                  <a:pt x="262405" y="1172196"/>
                  <a:pt x="586098" y="1172196"/>
                </a:cubicBezTo>
                <a:lnTo>
                  <a:pt x="1482483" y="1172196"/>
                </a:lnTo>
                <a:cubicBezTo>
                  <a:pt x="1529667" y="1172196"/>
                  <a:pt x="1575550" y="1166620"/>
                  <a:pt x="1619506" y="1156092"/>
                </a:cubicBezTo>
                <a:cubicBezTo>
                  <a:pt x="1866320" y="1096975"/>
                  <a:pt x="2052436" y="881712"/>
                  <a:pt x="2067583" y="620574"/>
                </a:cubicBezTo>
                <a:lnTo>
                  <a:pt x="1965152" y="620574"/>
                </a:lnTo>
                <a:cubicBezTo>
                  <a:pt x="1928121" y="620574"/>
                  <a:pt x="1892330" y="625881"/>
                  <a:pt x="1858498" y="635777"/>
                </a:cubicBezTo>
                <a:cubicBezTo>
                  <a:pt x="1838844" y="785995"/>
                  <a:pt x="1731278" y="908560"/>
                  <a:pt x="1589137" y="950135"/>
                </a:cubicBezTo>
                <a:cubicBezTo>
                  <a:pt x="1555305" y="960031"/>
                  <a:pt x="1519514" y="965338"/>
                  <a:pt x="1482483" y="965338"/>
                </a:cubicBezTo>
                <a:lnTo>
                  <a:pt x="586098" y="965338"/>
                </a:lnTo>
                <a:cubicBezTo>
                  <a:pt x="376649" y="965338"/>
                  <a:pt x="206858" y="795546"/>
                  <a:pt x="206858" y="586098"/>
                </a:cubicBezTo>
                <a:close/>
              </a:path>
            </a:pathLst>
          </a:custGeom>
          <a:noFill/>
          <a:ln w="1723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160153" y="2806885"/>
            <a:ext cx="2066591" cy="1172194"/>
          </a:xfrm>
          <a:custGeom>
            <a:avLst/>
            <a:gdLst/>
            <a:ahLst/>
            <a:cxnLst/>
            <a:rect l="0" t="0" r="0" b="0"/>
            <a:pathLst>
              <a:path w="2066591" h="1172194">
                <a:moveTo>
                  <a:pt x="0" y="551621"/>
                </a:moveTo>
                <a:lnTo>
                  <a:pt x="102431" y="551621"/>
                </a:lnTo>
                <a:cubicBezTo>
                  <a:pt x="139465" y="551621"/>
                  <a:pt x="175250" y="546315"/>
                  <a:pt x="209083" y="536419"/>
                </a:cubicBezTo>
                <a:cubicBezTo>
                  <a:pt x="228742" y="386200"/>
                  <a:pt x="336308" y="263632"/>
                  <a:pt x="478450" y="222056"/>
                </a:cubicBezTo>
                <a:cubicBezTo>
                  <a:pt x="512283" y="212169"/>
                  <a:pt x="548068" y="206854"/>
                  <a:pt x="585101" y="206854"/>
                </a:cubicBezTo>
                <a:lnTo>
                  <a:pt x="1481489" y="206854"/>
                </a:lnTo>
                <a:cubicBezTo>
                  <a:pt x="1518513" y="206854"/>
                  <a:pt x="1554308" y="212169"/>
                  <a:pt x="1588141" y="222056"/>
                </a:cubicBezTo>
                <a:cubicBezTo>
                  <a:pt x="1730282" y="263632"/>
                  <a:pt x="1837848" y="386200"/>
                  <a:pt x="1857498" y="536419"/>
                </a:cubicBezTo>
                <a:cubicBezTo>
                  <a:pt x="1891331" y="546315"/>
                  <a:pt x="1927126" y="551621"/>
                  <a:pt x="1964150" y="551621"/>
                </a:cubicBezTo>
                <a:lnTo>
                  <a:pt x="2066591" y="551621"/>
                </a:lnTo>
                <a:cubicBezTo>
                  <a:pt x="2051437" y="290483"/>
                  <a:pt x="1865318" y="75218"/>
                  <a:pt x="1618507" y="16106"/>
                </a:cubicBezTo>
                <a:cubicBezTo>
                  <a:pt x="1574549" y="5572"/>
                  <a:pt x="1528667" y="0"/>
                  <a:pt x="1481489" y="0"/>
                </a:cubicBezTo>
                <a:lnTo>
                  <a:pt x="585101" y="0"/>
                </a:lnTo>
                <a:cubicBezTo>
                  <a:pt x="537914" y="0"/>
                  <a:pt x="492032" y="5572"/>
                  <a:pt x="448075" y="16106"/>
                </a:cubicBezTo>
                <a:cubicBezTo>
                  <a:pt x="201263" y="75218"/>
                  <a:pt x="15144" y="290483"/>
                  <a:pt x="0" y="551621"/>
                </a:cubicBezTo>
                <a:moveTo>
                  <a:pt x="1481489" y="965339"/>
                </a:moveTo>
                <a:lnTo>
                  <a:pt x="585101" y="965339"/>
                </a:lnTo>
                <a:cubicBezTo>
                  <a:pt x="431368" y="965339"/>
                  <a:pt x="298999" y="873861"/>
                  <a:pt x="239458" y="742378"/>
                </a:cubicBezTo>
                <a:cubicBezTo>
                  <a:pt x="195500" y="752903"/>
                  <a:pt x="149618" y="758475"/>
                  <a:pt x="102431" y="758475"/>
                </a:cubicBezTo>
                <a:lnTo>
                  <a:pt x="24764" y="758475"/>
                </a:lnTo>
                <a:cubicBezTo>
                  <a:pt x="98374" y="998048"/>
                  <a:pt x="321402" y="1172194"/>
                  <a:pt x="585101" y="1172194"/>
                </a:cubicBezTo>
                <a:lnTo>
                  <a:pt x="1481489" y="1172194"/>
                </a:lnTo>
                <a:cubicBezTo>
                  <a:pt x="1745189" y="1172194"/>
                  <a:pt x="1968207" y="998048"/>
                  <a:pt x="2041826" y="758475"/>
                </a:cubicBezTo>
                <a:lnTo>
                  <a:pt x="1964150" y="758475"/>
                </a:lnTo>
                <a:cubicBezTo>
                  <a:pt x="1916972" y="758475"/>
                  <a:pt x="1871091" y="752903"/>
                  <a:pt x="1827133" y="742378"/>
                </a:cubicBezTo>
                <a:cubicBezTo>
                  <a:pt x="1767592" y="873861"/>
                  <a:pt x="1635223" y="965339"/>
                  <a:pt x="1481489" y="965339"/>
                </a:cubicBezTo>
              </a:path>
            </a:pathLst>
          </a:custGeom>
          <a:solidFill>
            <a:srgbClr val="4E88E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60153" y="2806885"/>
            <a:ext cx="2066587" cy="1172196"/>
          </a:xfrm>
          <a:custGeom>
            <a:avLst/>
            <a:gdLst/>
            <a:ahLst/>
            <a:cxnLst/>
            <a:rect l="0" t="0" r="0" b="0"/>
            <a:pathLst>
              <a:path w="2066587" h="1172196">
                <a:moveTo>
                  <a:pt x="0" y="551621"/>
                </a:moveTo>
                <a:lnTo>
                  <a:pt x="102431" y="551621"/>
                </a:lnTo>
                <a:cubicBezTo>
                  <a:pt x="139462" y="551621"/>
                  <a:pt x="175253" y="546314"/>
                  <a:pt x="209085" y="536418"/>
                </a:cubicBezTo>
                <a:cubicBezTo>
                  <a:pt x="228740" y="386200"/>
                  <a:pt x="336305" y="263636"/>
                  <a:pt x="478446" y="222061"/>
                </a:cubicBezTo>
                <a:cubicBezTo>
                  <a:pt x="512279" y="212165"/>
                  <a:pt x="548070" y="206858"/>
                  <a:pt x="585100" y="206858"/>
                </a:cubicBezTo>
                <a:lnTo>
                  <a:pt x="1481485" y="206858"/>
                </a:lnTo>
                <a:cubicBezTo>
                  <a:pt x="1518516" y="206858"/>
                  <a:pt x="1554307" y="212165"/>
                  <a:pt x="1588139" y="222061"/>
                </a:cubicBezTo>
                <a:cubicBezTo>
                  <a:pt x="1730282" y="263636"/>
                  <a:pt x="1837847" y="386200"/>
                  <a:pt x="1857501" y="536418"/>
                </a:cubicBezTo>
                <a:cubicBezTo>
                  <a:pt x="1891333" y="546314"/>
                  <a:pt x="1927124" y="551621"/>
                  <a:pt x="1964154" y="551621"/>
                </a:cubicBezTo>
                <a:lnTo>
                  <a:pt x="2066587" y="551621"/>
                </a:lnTo>
                <a:cubicBezTo>
                  <a:pt x="2051440" y="290484"/>
                  <a:pt x="1865322" y="75220"/>
                  <a:pt x="1618509" y="16103"/>
                </a:cubicBezTo>
                <a:cubicBezTo>
                  <a:pt x="1574552" y="5575"/>
                  <a:pt x="1528670" y="0"/>
                  <a:pt x="1481485" y="0"/>
                </a:cubicBezTo>
                <a:lnTo>
                  <a:pt x="585100" y="0"/>
                </a:lnTo>
                <a:cubicBezTo>
                  <a:pt x="537916" y="0"/>
                  <a:pt x="492035" y="5575"/>
                  <a:pt x="448077" y="16103"/>
                </a:cubicBezTo>
                <a:cubicBezTo>
                  <a:pt x="201264" y="75220"/>
                  <a:pt x="15147" y="290484"/>
                  <a:pt x="0" y="551621"/>
                </a:cubicBezTo>
                <a:close/>
                <a:moveTo>
                  <a:pt x="1481485" y="965338"/>
                </a:moveTo>
                <a:lnTo>
                  <a:pt x="585100" y="965338"/>
                </a:lnTo>
                <a:cubicBezTo>
                  <a:pt x="431368" y="965338"/>
                  <a:pt x="298999" y="873864"/>
                  <a:pt x="239455" y="742375"/>
                </a:cubicBezTo>
                <a:cubicBezTo>
                  <a:pt x="195498" y="752903"/>
                  <a:pt x="149615" y="758479"/>
                  <a:pt x="102431" y="758479"/>
                </a:cubicBezTo>
                <a:lnTo>
                  <a:pt x="24763" y="758479"/>
                </a:lnTo>
                <a:cubicBezTo>
                  <a:pt x="98375" y="998044"/>
                  <a:pt x="321400" y="1172196"/>
                  <a:pt x="585100" y="1172196"/>
                </a:cubicBezTo>
                <a:lnTo>
                  <a:pt x="1481485" y="1172196"/>
                </a:lnTo>
                <a:cubicBezTo>
                  <a:pt x="1745186" y="1172196"/>
                  <a:pt x="1968211" y="998044"/>
                  <a:pt x="2041824" y="758479"/>
                </a:cubicBezTo>
                <a:lnTo>
                  <a:pt x="1964154" y="758479"/>
                </a:lnTo>
                <a:cubicBezTo>
                  <a:pt x="1916970" y="758479"/>
                  <a:pt x="1871088" y="752903"/>
                  <a:pt x="1827132" y="742375"/>
                </a:cubicBezTo>
                <a:cubicBezTo>
                  <a:pt x="1767588" y="873864"/>
                  <a:pt x="1635219" y="965338"/>
                  <a:pt x="1481485" y="965338"/>
                </a:cubicBezTo>
                <a:close/>
              </a:path>
            </a:pathLst>
          </a:custGeom>
          <a:noFill/>
          <a:ln w="17237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39208" y="2393169"/>
            <a:ext cx="2066591" cy="1172194"/>
          </a:xfrm>
          <a:custGeom>
            <a:avLst/>
            <a:gdLst/>
            <a:ahLst/>
            <a:cxnLst/>
            <a:rect l="0" t="0" r="0" b="0"/>
            <a:pathLst>
              <a:path w="2066591" h="1172194">
                <a:moveTo>
                  <a:pt x="102431" y="620572"/>
                </a:moveTo>
                <a:lnTo>
                  <a:pt x="0" y="620572"/>
                </a:lnTo>
                <a:cubicBezTo>
                  <a:pt x="15144" y="881710"/>
                  <a:pt x="201263" y="1096975"/>
                  <a:pt x="448075" y="1156096"/>
                </a:cubicBezTo>
                <a:cubicBezTo>
                  <a:pt x="492032" y="1166622"/>
                  <a:pt x="537914" y="1172194"/>
                  <a:pt x="585101" y="1172194"/>
                </a:cubicBezTo>
                <a:lnTo>
                  <a:pt x="1481489" y="1172194"/>
                </a:lnTo>
                <a:cubicBezTo>
                  <a:pt x="1528667" y="1172194"/>
                  <a:pt x="1574549" y="1166622"/>
                  <a:pt x="1618507" y="1156096"/>
                </a:cubicBezTo>
                <a:cubicBezTo>
                  <a:pt x="1865318" y="1096975"/>
                  <a:pt x="2051437" y="881710"/>
                  <a:pt x="2066591" y="620572"/>
                </a:cubicBezTo>
                <a:lnTo>
                  <a:pt x="1964150" y="620572"/>
                </a:lnTo>
                <a:cubicBezTo>
                  <a:pt x="1927126" y="620572"/>
                  <a:pt x="1891331" y="625878"/>
                  <a:pt x="1857498" y="635774"/>
                </a:cubicBezTo>
                <a:cubicBezTo>
                  <a:pt x="1837848" y="785993"/>
                  <a:pt x="1730282" y="908561"/>
                  <a:pt x="1588141" y="950137"/>
                </a:cubicBezTo>
                <a:cubicBezTo>
                  <a:pt x="1554308" y="960034"/>
                  <a:pt x="1518513" y="965339"/>
                  <a:pt x="1481489" y="965339"/>
                </a:cubicBezTo>
                <a:lnTo>
                  <a:pt x="585101" y="965339"/>
                </a:lnTo>
                <a:cubicBezTo>
                  <a:pt x="548068" y="965339"/>
                  <a:pt x="512283" y="960034"/>
                  <a:pt x="478450" y="950137"/>
                </a:cubicBezTo>
                <a:cubicBezTo>
                  <a:pt x="336308" y="908561"/>
                  <a:pt x="228742" y="785993"/>
                  <a:pt x="209083" y="635774"/>
                </a:cubicBezTo>
                <a:cubicBezTo>
                  <a:pt x="175250" y="625878"/>
                  <a:pt x="139465" y="620572"/>
                  <a:pt x="102431" y="620572"/>
                </a:cubicBezTo>
                <a:moveTo>
                  <a:pt x="585101" y="206854"/>
                </a:moveTo>
                <a:lnTo>
                  <a:pt x="1481489" y="206854"/>
                </a:lnTo>
                <a:cubicBezTo>
                  <a:pt x="1635223" y="206854"/>
                  <a:pt x="1767592" y="298332"/>
                  <a:pt x="1827133" y="429815"/>
                </a:cubicBezTo>
                <a:cubicBezTo>
                  <a:pt x="1871091" y="419290"/>
                  <a:pt x="1916972" y="413718"/>
                  <a:pt x="1964150" y="413718"/>
                </a:cubicBezTo>
                <a:lnTo>
                  <a:pt x="2041826" y="413718"/>
                </a:lnTo>
                <a:cubicBezTo>
                  <a:pt x="1968207" y="174155"/>
                  <a:pt x="1745189" y="0"/>
                  <a:pt x="1481489" y="0"/>
                </a:cubicBezTo>
                <a:lnTo>
                  <a:pt x="585101" y="0"/>
                </a:lnTo>
                <a:cubicBezTo>
                  <a:pt x="321402" y="0"/>
                  <a:pt x="98374" y="174155"/>
                  <a:pt x="24765" y="413718"/>
                </a:cubicBezTo>
                <a:lnTo>
                  <a:pt x="102431" y="413718"/>
                </a:lnTo>
                <a:cubicBezTo>
                  <a:pt x="149618" y="413718"/>
                  <a:pt x="195500" y="419290"/>
                  <a:pt x="239458" y="429815"/>
                </a:cubicBezTo>
                <a:cubicBezTo>
                  <a:pt x="298999" y="298332"/>
                  <a:pt x="431368" y="206854"/>
                  <a:pt x="585101" y="206854"/>
                </a:cubicBezTo>
              </a:path>
            </a:pathLst>
          </a:custGeom>
          <a:solidFill>
            <a:srgbClr val="BA5DE5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39208" y="2393169"/>
            <a:ext cx="2066587" cy="1172196"/>
          </a:xfrm>
          <a:custGeom>
            <a:avLst/>
            <a:gdLst/>
            <a:ahLst/>
            <a:cxnLst/>
            <a:rect l="0" t="0" r="0" b="0"/>
            <a:pathLst>
              <a:path w="2066587" h="1172196">
                <a:moveTo>
                  <a:pt x="102431" y="620574"/>
                </a:moveTo>
                <a:lnTo>
                  <a:pt x="0" y="620574"/>
                </a:lnTo>
                <a:cubicBezTo>
                  <a:pt x="15147" y="881712"/>
                  <a:pt x="201264" y="1096975"/>
                  <a:pt x="448077" y="1156092"/>
                </a:cubicBezTo>
                <a:cubicBezTo>
                  <a:pt x="492033" y="1166620"/>
                  <a:pt x="537916" y="1172196"/>
                  <a:pt x="585100" y="1172196"/>
                </a:cubicBezTo>
                <a:lnTo>
                  <a:pt x="1481485" y="1172196"/>
                </a:lnTo>
                <a:cubicBezTo>
                  <a:pt x="1528670" y="1172196"/>
                  <a:pt x="1574552" y="1166620"/>
                  <a:pt x="1618509" y="1156092"/>
                </a:cubicBezTo>
                <a:cubicBezTo>
                  <a:pt x="1865322" y="1096975"/>
                  <a:pt x="2051440" y="881712"/>
                  <a:pt x="2066587" y="620574"/>
                </a:cubicBezTo>
                <a:lnTo>
                  <a:pt x="1964154" y="620574"/>
                </a:lnTo>
                <a:cubicBezTo>
                  <a:pt x="1927124" y="620574"/>
                  <a:pt x="1891333" y="625881"/>
                  <a:pt x="1857501" y="635777"/>
                </a:cubicBezTo>
                <a:cubicBezTo>
                  <a:pt x="1837847" y="785995"/>
                  <a:pt x="1730281" y="908560"/>
                  <a:pt x="1588139" y="950135"/>
                </a:cubicBezTo>
                <a:cubicBezTo>
                  <a:pt x="1554307" y="960031"/>
                  <a:pt x="1518516" y="965338"/>
                  <a:pt x="1481485" y="965338"/>
                </a:cubicBezTo>
                <a:lnTo>
                  <a:pt x="585100" y="965338"/>
                </a:lnTo>
                <a:cubicBezTo>
                  <a:pt x="548070" y="965338"/>
                  <a:pt x="512279" y="960031"/>
                  <a:pt x="478446" y="950135"/>
                </a:cubicBezTo>
                <a:cubicBezTo>
                  <a:pt x="336305" y="908560"/>
                  <a:pt x="228740" y="785995"/>
                  <a:pt x="209085" y="635777"/>
                </a:cubicBezTo>
                <a:cubicBezTo>
                  <a:pt x="175253" y="625881"/>
                  <a:pt x="139462" y="620574"/>
                  <a:pt x="102431" y="620574"/>
                </a:cubicBezTo>
                <a:close/>
                <a:moveTo>
                  <a:pt x="585100" y="206858"/>
                </a:moveTo>
                <a:lnTo>
                  <a:pt x="1481485" y="206858"/>
                </a:lnTo>
                <a:cubicBezTo>
                  <a:pt x="1635219" y="206858"/>
                  <a:pt x="1767588" y="298331"/>
                  <a:pt x="1827132" y="429820"/>
                </a:cubicBezTo>
                <a:cubicBezTo>
                  <a:pt x="1871088" y="419292"/>
                  <a:pt x="1916970" y="413716"/>
                  <a:pt x="1964154" y="413716"/>
                </a:cubicBezTo>
                <a:lnTo>
                  <a:pt x="2041823" y="413716"/>
                </a:lnTo>
                <a:cubicBezTo>
                  <a:pt x="1968211" y="174151"/>
                  <a:pt x="1745186" y="0"/>
                  <a:pt x="1481485" y="0"/>
                </a:cubicBezTo>
                <a:lnTo>
                  <a:pt x="585100" y="0"/>
                </a:lnTo>
                <a:cubicBezTo>
                  <a:pt x="321400" y="0"/>
                  <a:pt x="98374" y="174151"/>
                  <a:pt x="24763" y="413716"/>
                </a:cubicBezTo>
                <a:lnTo>
                  <a:pt x="102431" y="413716"/>
                </a:lnTo>
                <a:cubicBezTo>
                  <a:pt x="149615" y="413716"/>
                  <a:pt x="195498" y="419292"/>
                  <a:pt x="239455" y="429820"/>
                </a:cubicBezTo>
                <a:cubicBezTo>
                  <a:pt x="298999" y="298331"/>
                  <a:pt x="431367" y="206858"/>
                  <a:pt x="585100" y="206858"/>
                </a:cubicBezTo>
                <a:close/>
              </a:path>
            </a:pathLst>
          </a:custGeom>
          <a:noFill/>
          <a:ln w="17237">
            <a:solidFill>
              <a:srgbClr val="BA5DE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918262" y="2806885"/>
            <a:ext cx="2066582" cy="1172194"/>
          </a:xfrm>
          <a:custGeom>
            <a:avLst/>
            <a:gdLst/>
            <a:ahLst/>
            <a:cxnLst/>
            <a:rect l="0" t="0" r="0" b="0"/>
            <a:pathLst>
              <a:path w="2066582" h="1172194">
                <a:moveTo>
                  <a:pt x="1481489" y="965339"/>
                </a:moveTo>
                <a:lnTo>
                  <a:pt x="585101" y="965339"/>
                </a:lnTo>
                <a:cubicBezTo>
                  <a:pt x="431368" y="965339"/>
                  <a:pt x="298999" y="873861"/>
                  <a:pt x="239458" y="742378"/>
                </a:cubicBezTo>
                <a:cubicBezTo>
                  <a:pt x="195500" y="752903"/>
                  <a:pt x="149618" y="758475"/>
                  <a:pt x="102431" y="758475"/>
                </a:cubicBezTo>
                <a:lnTo>
                  <a:pt x="24765" y="758475"/>
                </a:lnTo>
                <a:cubicBezTo>
                  <a:pt x="98374" y="998048"/>
                  <a:pt x="321402" y="1172194"/>
                  <a:pt x="585101" y="1172194"/>
                </a:cubicBezTo>
                <a:lnTo>
                  <a:pt x="1481489" y="1172194"/>
                </a:lnTo>
                <a:cubicBezTo>
                  <a:pt x="1745189" y="1172194"/>
                  <a:pt x="1968207" y="998048"/>
                  <a:pt x="2041826" y="758475"/>
                </a:cubicBezTo>
                <a:lnTo>
                  <a:pt x="1964150" y="758475"/>
                </a:lnTo>
                <a:cubicBezTo>
                  <a:pt x="1916972" y="758475"/>
                  <a:pt x="1871091" y="752903"/>
                  <a:pt x="1827133" y="742378"/>
                </a:cubicBezTo>
                <a:cubicBezTo>
                  <a:pt x="1767592" y="873861"/>
                  <a:pt x="1635223" y="965339"/>
                  <a:pt x="1481489" y="965339"/>
                </a:cubicBezTo>
                <a:moveTo>
                  <a:pt x="0" y="551621"/>
                </a:moveTo>
                <a:lnTo>
                  <a:pt x="102431" y="551621"/>
                </a:lnTo>
                <a:cubicBezTo>
                  <a:pt x="139465" y="551621"/>
                  <a:pt x="175250" y="546315"/>
                  <a:pt x="209083" y="536419"/>
                </a:cubicBezTo>
                <a:cubicBezTo>
                  <a:pt x="228742" y="386200"/>
                  <a:pt x="336308" y="263632"/>
                  <a:pt x="478450" y="222056"/>
                </a:cubicBezTo>
                <a:cubicBezTo>
                  <a:pt x="512283" y="212169"/>
                  <a:pt x="548068" y="206854"/>
                  <a:pt x="585101" y="206854"/>
                </a:cubicBezTo>
                <a:lnTo>
                  <a:pt x="1481489" y="206854"/>
                </a:lnTo>
                <a:cubicBezTo>
                  <a:pt x="1518513" y="206854"/>
                  <a:pt x="1554308" y="212169"/>
                  <a:pt x="1588141" y="222056"/>
                </a:cubicBezTo>
                <a:cubicBezTo>
                  <a:pt x="1730282" y="263632"/>
                  <a:pt x="1837848" y="386200"/>
                  <a:pt x="1857498" y="536419"/>
                </a:cubicBezTo>
                <a:cubicBezTo>
                  <a:pt x="1891331" y="546315"/>
                  <a:pt x="1927126" y="551621"/>
                  <a:pt x="1964150" y="551621"/>
                </a:cubicBezTo>
                <a:lnTo>
                  <a:pt x="2066582" y="551621"/>
                </a:lnTo>
                <a:cubicBezTo>
                  <a:pt x="2051437" y="290483"/>
                  <a:pt x="1865318" y="75218"/>
                  <a:pt x="1618507" y="16106"/>
                </a:cubicBezTo>
                <a:cubicBezTo>
                  <a:pt x="1574549" y="5572"/>
                  <a:pt x="1528667" y="0"/>
                  <a:pt x="1481489" y="0"/>
                </a:cubicBezTo>
                <a:lnTo>
                  <a:pt x="585101" y="0"/>
                </a:lnTo>
                <a:cubicBezTo>
                  <a:pt x="537914" y="0"/>
                  <a:pt x="492032" y="5572"/>
                  <a:pt x="448075" y="16106"/>
                </a:cubicBezTo>
                <a:cubicBezTo>
                  <a:pt x="201263" y="75218"/>
                  <a:pt x="15144" y="290483"/>
                  <a:pt x="0" y="551621"/>
                </a:cubicBezTo>
              </a:path>
            </a:pathLst>
          </a:custGeom>
          <a:solidFill>
            <a:srgbClr val="7F64EA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918262" y="2806885"/>
            <a:ext cx="2066586" cy="1172196"/>
          </a:xfrm>
          <a:custGeom>
            <a:avLst/>
            <a:gdLst/>
            <a:ahLst/>
            <a:cxnLst/>
            <a:rect l="0" t="0" r="0" b="0"/>
            <a:pathLst>
              <a:path w="2066586" h="1172196">
                <a:moveTo>
                  <a:pt x="1481485" y="965338"/>
                </a:moveTo>
                <a:lnTo>
                  <a:pt x="585100" y="965338"/>
                </a:lnTo>
                <a:cubicBezTo>
                  <a:pt x="431368" y="965338"/>
                  <a:pt x="298999" y="873864"/>
                  <a:pt x="239455" y="742375"/>
                </a:cubicBezTo>
                <a:cubicBezTo>
                  <a:pt x="195498" y="752903"/>
                  <a:pt x="149615" y="758479"/>
                  <a:pt x="102431" y="758479"/>
                </a:cubicBezTo>
                <a:lnTo>
                  <a:pt x="24763" y="758479"/>
                </a:lnTo>
                <a:cubicBezTo>
                  <a:pt x="98374" y="998044"/>
                  <a:pt x="321400" y="1172196"/>
                  <a:pt x="585100" y="1172196"/>
                </a:cubicBezTo>
                <a:lnTo>
                  <a:pt x="1481485" y="1172196"/>
                </a:lnTo>
                <a:cubicBezTo>
                  <a:pt x="1745186" y="1172196"/>
                  <a:pt x="1968211" y="998044"/>
                  <a:pt x="2041824" y="758479"/>
                </a:cubicBezTo>
                <a:lnTo>
                  <a:pt x="1964154" y="758479"/>
                </a:lnTo>
                <a:cubicBezTo>
                  <a:pt x="1916970" y="758479"/>
                  <a:pt x="1871089" y="752903"/>
                  <a:pt x="1827132" y="742375"/>
                </a:cubicBezTo>
                <a:cubicBezTo>
                  <a:pt x="1767588" y="873864"/>
                  <a:pt x="1635219" y="965338"/>
                  <a:pt x="1481485" y="965338"/>
                </a:cubicBezTo>
                <a:close/>
                <a:moveTo>
                  <a:pt x="0" y="551621"/>
                </a:moveTo>
                <a:lnTo>
                  <a:pt x="102431" y="551621"/>
                </a:lnTo>
                <a:cubicBezTo>
                  <a:pt x="139462" y="551621"/>
                  <a:pt x="175253" y="546314"/>
                  <a:pt x="209085" y="536418"/>
                </a:cubicBezTo>
                <a:cubicBezTo>
                  <a:pt x="228740" y="386200"/>
                  <a:pt x="336305" y="263636"/>
                  <a:pt x="478446" y="222061"/>
                </a:cubicBezTo>
                <a:cubicBezTo>
                  <a:pt x="512279" y="212165"/>
                  <a:pt x="548070" y="206858"/>
                  <a:pt x="585100" y="206858"/>
                </a:cubicBezTo>
                <a:lnTo>
                  <a:pt x="1481485" y="206858"/>
                </a:lnTo>
                <a:cubicBezTo>
                  <a:pt x="1518516" y="206858"/>
                  <a:pt x="1554307" y="212165"/>
                  <a:pt x="1588139" y="222061"/>
                </a:cubicBezTo>
                <a:cubicBezTo>
                  <a:pt x="1730282" y="263636"/>
                  <a:pt x="1837847" y="386200"/>
                  <a:pt x="1857502" y="536418"/>
                </a:cubicBezTo>
                <a:cubicBezTo>
                  <a:pt x="1891333" y="546314"/>
                  <a:pt x="1927124" y="551621"/>
                  <a:pt x="1964154" y="551621"/>
                </a:cubicBezTo>
                <a:lnTo>
                  <a:pt x="2066586" y="551621"/>
                </a:lnTo>
                <a:cubicBezTo>
                  <a:pt x="2051438" y="290484"/>
                  <a:pt x="1865322" y="75220"/>
                  <a:pt x="1618509" y="16103"/>
                </a:cubicBezTo>
                <a:cubicBezTo>
                  <a:pt x="1574552" y="5575"/>
                  <a:pt x="1528670" y="0"/>
                  <a:pt x="1481485" y="0"/>
                </a:cubicBezTo>
                <a:lnTo>
                  <a:pt x="585100" y="0"/>
                </a:lnTo>
                <a:cubicBezTo>
                  <a:pt x="537916" y="0"/>
                  <a:pt x="492033" y="5575"/>
                  <a:pt x="448077" y="16103"/>
                </a:cubicBezTo>
                <a:cubicBezTo>
                  <a:pt x="201264" y="75220"/>
                  <a:pt x="15147" y="290484"/>
                  <a:pt x="0" y="551621"/>
                </a:cubicBezTo>
                <a:close/>
              </a:path>
            </a:pathLst>
          </a:custGeom>
          <a:noFill/>
          <a:ln w="17237">
            <a:solidFill>
              <a:srgbClr val="7F64E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96317" y="2393169"/>
            <a:ext cx="2067582" cy="1172194"/>
          </a:xfrm>
          <a:custGeom>
            <a:avLst/>
            <a:gdLst/>
            <a:ahLst/>
            <a:cxnLst/>
            <a:rect l="0" t="0" r="0" b="0"/>
            <a:pathLst>
              <a:path w="2067582" h="1172194">
                <a:moveTo>
                  <a:pt x="1481489" y="1172194"/>
                </a:moveTo>
                <a:cubicBezTo>
                  <a:pt x="1805177" y="1172194"/>
                  <a:pt x="2067582" y="909789"/>
                  <a:pt x="2067582" y="586101"/>
                </a:cubicBezTo>
                <a:cubicBezTo>
                  <a:pt x="2067582" y="262404"/>
                  <a:pt x="1805177" y="0"/>
                  <a:pt x="1481489" y="0"/>
                </a:cubicBezTo>
                <a:lnTo>
                  <a:pt x="585101" y="0"/>
                </a:lnTo>
                <a:cubicBezTo>
                  <a:pt x="321402" y="0"/>
                  <a:pt x="98374" y="174155"/>
                  <a:pt x="24765" y="413718"/>
                </a:cubicBezTo>
                <a:lnTo>
                  <a:pt x="102431" y="413718"/>
                </a:lnTo>
                <a:cubicBezTo>
                  <a:pt x="149618" y="413718"/>
                  <a:pt x="195500" y="419290"/>
                  <a:pt x="239458" y="429815"/>
                </a:cubicBezTo>
                <a:cubicBezTo>
                  <a:pt x="298999" y="298332"/>
                  <a:pt x="431368" y="206854"/>
                  <a:pt x="585101" y="206854"/>
                </a:cubicBezTo>
                <a:lnTo>
                  <a:pt x="1481489" y="206854"/>
                </a:lnTo>
                <a:cubicBezTo>
                  <a:pt x="1690935" y="206854"/>
                  <a:pt x="1860727" y="376647"/>
                  <a:pt x="1860727" y="586101"/>
                </a:cubicBezTo>
                <a:cubicBezTo>
                  <a:pt x="1860727" y="795547"/>
                  <a:pt x="1690935" y="965339"/>
                  <a:pt x="1481489" y="965339"/>
                </a:cubicBezTo>
                <a:lnTo>
                  <a:pt x="585101" y="965339"/>
                </a:lnTo>
                <a:cubicBezTo>
                  <a:pt x="548068" y="965339"/>
                  <a:pt x="512283" y="960034"/>
                  <a:pt x="478450" y="950137"/>
                </a:cubicBezTo>
                <a:cubicBezTo>
                  <a:pt x="336308" y="908561"/>
                  <a:pt x="228742" y="785993"/>
                  <a:pt x="209083" y="635774"/>
                </a:cubicBezTo>
                <a:cubicBezTo>
                  <a:pt x="175250" y="625878"/>
                  <a:pt x="139465" y="620572"/>
                  <a:pt x="102431" y="620572"/>
                </a:cubicBezTo>
                <a:lnTo>
                  <a:pt x="0" y="620572"/>
                </a:lnTo>
                <a:cubicBezTo>
                  <a:pt x="15144" y="881710"/>
                  <a:pt x="201263" y="1096975"/>
                  <a:pt x="448075" y="1156096"/>
                </a:cubicBezTo>
                <a:cubicBezTo>
                  <a:pt x="492032" y="1166622"/>
                  <a:pt x="537914" y="1172194"/>
                  <a:pt x="585101" y="1172194"/>
                </a:cubicBezTo>
                <a:lnTo>
                  <a:pt x="1481489" y="1172194"/>
                </a:lnTo>
              </a:path>
            </a:pathLst>
          </a:custGeom>
          <a:solidFill>
            <a:srgbClr val="DE58A9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96317" y="2393169"/>
            <a:ext cx="2067583" cy="1172196"/>
          </a:xfrm>
          <a:custGeom>
            <a:avLst/>
            <a:gdLst/>
            <a:ahLst/>
            <a:cxnLst/>
            <a:rect l="0" t="0" r="0" b="0"/>
            <a:pathLst>
              <a:path w="2067583" h="1172196">
                <a:moveTo>
                  <a:pt x="1481485" y="1172196"/>
                </a:moveTo>
                <a:cubicBezTo>
                  <a:pt x="1805178" y="1172196"/>
                  <a:pt x="2067583" y="909790"/>
                  <a:pt x="2067583" y="586098"/>
                </a:cubicBezTo>
                <a:cubicBezTo>
                  <a:pt x="2067583" y="262405"/>
                  <a:pt x="1805178" y="0"/>
                  <a:pt x="1481485" y="0"/>
                </a:cubicBezTo>
                <a:lnTo>
                  <a:pt x="585100" y="0"/>
                </a:lnTo>
                <a:cubicBezTo>
                  <a:pt x="321400" y="0"/>
                  <a:pt x="98374" y="174151"/>
                  <a:pt x="24763" y="413716"/>
                </a:cubicBezTo>
                <a:lnTo>
                  <a:pt x="102431" y="413716"/>
                </a:lnTo>
                <a:cubicBezTo>
                  <a:pt x="149615" y="413716"/>
                  <a:pt x="195498" y="419292"/>
                  <a:pt x="239454" y="429820"/>
                </a:cubicBezTo>
                <a:cubicBezTo>
                  <a:pt x="298998" y="298331"/>
                  <a:pt x="431367" y="206858"/>
                  <a:pt x="585100" y="206858"/>
                </a:cubicBezTo>
                <a:lnTo>
                  <a:pt x="1481485" y="206858"/>
                </a:lnTo>
                <a:cubicBezTo>
                  <a:pt x="1690934" y="206858"/>
                  <a:pt x="1860725" y="376649"/>
                  <a:pt x="1860725" y="586098"/>
                </a:cubicBezTo>
                <a:cubicBezTo>
                  <a:pt x="1860725" y="795546"/>
                  <a:pt x="1690934" y="965338"/>
                  <a:pt x="1481485" y="965338"/>
                </a:cubicBezTo>
                <a:lnTo>
                  <a:pt x="585100" y="965338"/>
                </a:lnTo>
                <a:cubicBezTo>
                  <a:pt x="548069" y="965338"/>
                  <a:pt x="512279" y="960031"/>
                  <a:pt x="478446" y="950135"/>
                </a:cubicBezTo>
                <a:cubicBezTo>
                  <a:pt x="336305" y="908560"/>
                  <a:pt x="228739" y="785995"/>
                  <a:pt x="209085" y="635777"/>
                </a:cubicBezTo>
                <a:cubicBezTo>
                  <a:pt x="175252" y="625881"/>
                  <a:pt x="139462" y="620574"/>
                  <a:pt x="102431" y="620574"/>
                </a:cubicBezTo>
                <a:lnTo>
                  <a:pt x="0" y="620574"/>
                </a:lnTo>
                <a:cubicBezTo>
                  <a:pt x="15147" y="881712"/>
                  <a:pt x="201264" y="1096975"/>
                  <a:pt x="448077" y="1156092"/>
                </a:cubicBezTo>
                <a:cubicBezTo>
                  <a:pt x="492033" y="1166620"/>
                  <a:pt x="537916" y="1172196"/>
                  <a:pt x="585100" y="1172196"/>
                </a:cubicBezTo>
                <a:lnTo>
                  <a:pt x="1481485" y="1172196"/>
                </a:lnTo>
                <a:close/>
              </a:path>
            </a:pathLst>
          </a:custGeom>
          <a:noFill/>
          <a:ln w="17237">
            <a:solidFill>
              <a:srgbClr val="DE58A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70749" y="371488"/>
            <a:ext cx="3003489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 dirty="0">
                <a:solidFill>
                  <a:srgbClr val="484848"/>
                </a:solidFill>
                <a:latin typeface="Roboto"/>
              </a:rPr>
              <a:t>Career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4092" y="1000138"/>
            <a:ext cx="66568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0" dirty="0">
                <a:solidFill>
                  <a:srgbClr val="484848"/>
                </a:solidFill>
                <a:latin typeface="Roboto"/>
              </a:rPr>
              <a:t>A journey of progressive growth from </a:t>
            </a:r>
            <a:r>
              <a:rPr lang="en-US" sz="1500" b="0" dirty="0">
                <a:solidFill>
                  <a:srgbClr val="484848"/>
                </a:solidFill>
                <a:latin typeface="Roboto"/>
              </a:rPr>
              <a:t>intern </a:t>
            </a:r>
            <a:r>
              <a:rPr sz="1500" b="0" dirty="0">
                <a:solidFill>
                  <a:srgbClr val="484848"/>
                </a:solidFill>
                <a:latin typeface="Roboto"/>
              </a:rPr>
              <a:t>digital marketing to financial compliance.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921288" y="1600246"/>
            <a:ext cx="1786194" cy="551563"/>
            <a:chOff x="920789" y="1600233"/>
            <a:chExt cx="1786194" cy="551563"/>
          </a:xfrm>
        </p:grpSpPr>
        <p:sp>
          <p:nvSpPr>
            <p:cNvPr id="14" name="TextBox 13"/>
            <p:cNvSpPr txBox="1"/>
            <p:nvPr/>
          </p:nvSpPr>
          <p:spPr>
            <a:xfrm>
              <a:off x="920789" y="1600233"/>
              <a:ext cx="1786194" cy="275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 dirty="0">
                  <a:solidFill>
                    <a:srgbClr val="1EABDA"/>
                  </a:solidFill>
                  <a:latin typeface="Roboto"/>
                </a:rPr>
                <a:t>Digital Marketing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20789" y="1875981"/>
              <a:ext cx="1786194" cy="2758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>
                  <a:solidFill>
                    <a:srgbClr val="1EABDA"/>
                  </a:solidFill>
                  <a:latin typeface="Roboto"/>
                </a:rPr>
                <a:t>Intern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610693" y="1600246"/>
            <a:ext cx="1923621" cy="551563"/>
            <a:chOff x="3610194" y="1600233"/>
            <a:chExt cx="1923621" cy="551563"/>
          </a:xfrm>
        </p:grpSpPr>
        <p:sp>
          <p:nvSpPr>
            <p:cNvPr id="17" name="TextBox 16"/>
            <p:cNvSpPr txBox="1"/>
            <p:nvPr/>
          </p:nvSpPr>
          <p:spPr>
            <a:xfrm>
              <a:off x="3610194" y="1600233"/>
              <a:ext cx="1923621" cy="275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>
                  <a:solidFill>
                    <a:srgbClr val="BA5DE5"/>
                  </a:solidFill>
                  <a:latin typeface="Roboto"/>
                </a:rPr>
                <a:t>Liability Marketing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610194" y="1875981"/>
              <a:ext cx="1923621" cy="2758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>
                  <a:solidFill>
                    <a:srgbClr val="BA5DE5"/>
                  </a:solidFill>
                  <a:latin typeface="Roboto"/>
                </a:rPr>
                <a:t>Officer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341265" y="1600246"/>
            <a:ext cx="1978685" cy="551563"/>
            <a:chOff x="6340766" y="1600233"/>
            <a:chExt cx="1978685" cy="551563"/>
          </a:xfrm>
        </p:grpSpPr>
        <p:sp>
          <p:nvSpPr>
            <p:cNvPr id="20" name="TextBox 19"/>
            <p:cNvSpPr txBox="1"/>
            <p:nvPr/>
          </p:nvSpPr>
          <p:spPr>
            <a:xfrm>
              <a:off x="6340766" y="1600233"/>
              <a:ext cx="1978685" cy="275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>
                  <a:solidFill>
                    <a:srgbClr val="DE58A9"/>
                  </a:solidFill>
                  <a:latin typeface="Roboto"/>
                </a:rPr>
                <a:t>Compliance Senior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40766" y="1875981"/>
              <a:ext cx="1978685" cy="2758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>
                  <a:solidFill>
                    <a:srgbClr val="DE58A9"/>
                  </a:solidFill>
                  <a:latin typeface="Roboto"/>
                </a:rPr>
                <a:t>Officer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1561516" y="2724461"/>
            <a:ext cx="504321" cy="509629"/>
          </a:xfrm>
          <a:custGeom>
            <a:avLst/>
            <a:gdLst/>
            <a:ahLst/>
            <a:cxnLst/>
            <a:rect l="0" t="0" r="0" b="0"/>
            <a:pathLst>
              <a:path w="504321" h="509629">
                <a:moveTo>
                  <a:pt x="448768" y="387447"/>
                </a:moveTo>
                <a:lnTo>
                  <a:pt x="458260" y="502644"/>
                </a:lnTo>
                <a:moveTo>
                  <a:pt x="18618" y="56451"/>
                </a:moveTo>
                <a:cubicBezTo>
                  <a:pt x="18616" y="87628"/>
                  <a:pt x="43890" y="112903"/>
                  <a:pt x="75067" y="112903"/>
                </a:cubicBezTo>
                <a:cubicBezTo>
                  <a:pt x="106244" y="112903"/>
                  <a:pt x="131518" y="87628"/>
                  <a:pt x="131516" y="56451"/>
                </a:cubicBezTo>
                <a:cubicBezTo>
                  <a:pt x="131518" y="25274"/>
                  <a:pt x="106244" y="0"/>
                  <a:pt x="75067" y="0"/>
                </a:cubicBezTo>
                <a:cubicBezTo>
                  <a:pt x="43890" y="0"/>
                  <a:pt x="18616" y="25274"/>
                  <a:pt x="18618" y="56451"/>
                </a:cubicBezTo>
                <a:moveTo>
                  <a:pt x="239381" y="201941"/>
                </a:moveTo>
                <a:lnTo>
                  <a:pt x="239198" y="201941"/>
                </a:lnTo>
                <a:lnTo>
                  <a:pt x="143813" y="202493"/>
                </a:lnTo>
                <a:lnTo>
                  <a:pt x="73849" y="146113"/>
                </a:lnTo>
                <a:cubicBezTo>
                  <a:pt x="73182" y="145561"/>
                  <a:pt x="72424" y="145193"/>
                  <a:pt x="71711" y="144711"/>
                </a:cubicBezTo>
                <a:cubicBezTo>
                  <a:pt x="70628" y="143883"/>
                  <a:pt x="69500" y="143116"/>
                  <a:pt x="68333" y="142412"/>
                </a:cubicBezTo>
                <a:cubicBezTo>
                  <a:pt x="67125" y="141815"/>
                  <a:pt x="65881" y="141293"/>
                  <a:pt x="64609" y="140849"/>
                </a:cubicBezTo>
                <a:cubicBezTo>
                  <a:pt x="63759" y="140620"/>
                  <a:pt x="62977" y="140206"/>
                  <a:pt x="62104" y="139884"/>
                </a:cubicBezTo>
                <a:cubicBezTo>
                  <a:pt x="60408" y="139414"/>
                  <a:pt x="58679" y="139068"/>
                  <a:pt x="56933" y="138850"/>
                </a:cubicBezTo>
                <a:cubicBezTo>
                  <a:pt x="56450" y="138850"/>
                  <a:pt x="56013" y="138620"/>
                  <a:pt x="55508" y="138574"/>
                </a:cubicBezTo>
                <a:lnTo>
                  <a:pt x="55508" y="138574"/>
                </a:lnTo>
                <a:cubicBezTo>
                  <a:pt x="54749" y="138574"/>
                  <a:pt x="53991" y="138574"/>
                  <a:pt x="53209" y="138574"/>
                </a:cubicBezTo>
                <a:cubicBezTo>
                  <a:pt x="42557" y="138181"/>
                  <a:pt x="32341" y="142821"/>
                  <a:pt x="25628" y="151100"/>
                </a:cubicBezTo>
                <a:lnTo>
                  <a:pt x="25329" y="151376"/>
                </a:lnTo>
                <a:cubicBezTo>
                  <a:pt x="24755" y="152066"/>
                  <a:pt x="24364" y="152870"/>
                  <a:pt x="23858" y="153675"/>
                </a:cubicBezTo>
                <a:cubicBezTo>
                  <a:pt x="23353" y="154479"/>
                  <a:pt x="22364" y="155766"/>
                  <a:pt x="21744" y="156915"/>
                </a:cubicBezTo>
                <a:cubicBezTo>
                  <a:pt x="21149" y="158143"/>
                  <a:pt x="20619" y="159401"/>
                  <a:pt x="20158" y="160685"/>
                </a:cubicBezTo>
                <a:cubicBezTo>
                  <a:pt x="19836" y="161535"/>
                  <a:pt x="19445" y="162317"/>
                  <a:pt x="19169" y="163190"/>
                </a:cubicBezTo>
                <a:cubicBezTo>
                  <a:pt x="18717" y="164810"/>
                  <a:pt x="18386" y="166462"/>
                  <a:pt x="18181" y="168132"/>
                </a:cubicBezTo>
                <a:cubicBezTo>
                  <a:pt x="18181" y="168706"/>
                  <a:pt x="17905" y="169212"/>
                  <a:pt x="17859" y="169764"/>
                </a:cubicBezTo>
                <a:lnTo>
                  <a:pt x="17859" y="170085"/>
                </a:lnTo>
                <a:lnTo>
                  <a:pt x="17859" y="170085"/>
                </a:lnTo>
                <a:lnTo>
                  <a:pt x="1586" y="338951"/>
                </a:lnTo>
                <a:cubicBezTo>
                  <a:pt x="0" y="356151"/>
                  <a:pt x="11387" y="371871"/>
                  <a:pt x="28225" y="375725"/>
                </a:cubicBezTo>
                <a:lnTo>
                  <a:pt x="150524" y="403697"/>
                </a:lnTo>
                <a:lnTo>
                  <a:pt x="158799" y="478856"/>
                </a:lnTo>
                <a:cubicBezTo>
                  <a:pt x="160701" y="496368"/>
                  <a:pt x="175499" y="509629"/>
                  <a:pt x="193114" y="509608"/>
                </a:cubicBezTo>
                <a:cubicBezTo>
                  <a:pt x="194388" y="509615"/>
                  <a:pt x="195662" y="509554"/>
                  <a:pt x="196930" y="509425"/>
                </a:cubicBezTo>
                <a:cubicBezTo>
                  <a:pt x="215866" y="507343"/>
                  <a:pt x="229525" y="490298"/>
                  <a:pt x="227430" y="471363"/>
                </a:cubicBezTo>
                <a:lnTo>
                  <a:pt x="216466" y="371841"/>
                </a:lnTo>
                <a:cubicBezTo>
                  <a:pt x="214876" y="357231"/>
                  <a:pt x="204200" y="345236"/>
                  <a:pt x="189873" y="341961"/>
                </a:cubicBezTo>
                <a:lnTo>
                  <a:pt x="73113" y="315323"/>
                </a:lnTo>
                <a:lnTo>
                  <a:pt x="80491" y="239957"/>
                </a:lnTo>
                <a:lnTo>
                  <a:pt x="110095" y="263999"/>
                </a:lnTo>
                <a:cubicBezTo>
                  <a:pt x="116229" y="268941"/>
                  <a:pt x="123869" y="271634"/>
                  <a:pt x="131746" y="271630"/>
                </a:cubicBezTo>
                <a:lnTo>
                  <a:pt x="131953" y="271630"/>
                </a:lnTo>
                <a:lnTo>
                  <a:pt x="239588" y="271009"/>
                </a:lnTo>
                <a:cubicBezTo>
                  <a:pt x="258626" y="270947"/>
                  <a:pt x="274010" y="255467"/>
                  <a:pt x="273953" y="236429"/>
                </a:cubicBezTo>
                <a:cubicBezTo>
                  <a:pt x="273896" y="217392"/>
                  <a:pt x="258419" y="202004"/>
                  <a:pt x="239381" y="202056"/>
                </a:cubicBezTo>
                <a:close/>
                <a:moveTo>
                  <a:pt x="413096" y="193391"/>
                </a:moveTo>
                <a:lnTo>
                  <a:pt x="397329" y="296660"/>
                </a:lnTo>
                <a:lnTo>
                  <a:pt x="314333" y="297303"/>
                </a:lnTo>
                <a:moveTo>
                  <a:pt x="319114" y="387447"/>
                </a:moveTo>
                <a:lnTo>
                  <a:pt x="309621" y="502644"/>
                </a:lnTo>
                <a:moveTo>
                  <a:pt x="275467" y="342835"/>
                </a:moveTo>
                <a:lnTo>
                  <a:pt x="492415" y="342835"/>
                </a:lnTo>
                <a:cubicBezTo>
                  <a:pt x="492415" y="342835"/>
                  <a:pt x="504321" y="342835"/>
                  <a:pt x="504321" y="354741"/>
                </a:cubicBezTo>
                <a:lnTo>
                  <a:pt x="504321" y="375564"/>
                </a:lnTo>
                <a:cubicBezTo>
                  <a:pt x="504321" y="375564"/>
                  <a:pt x="504321" y="387470"/>
                  <a:pt x="492415" y="387470"/>
                </a:cubicBezTo>
                <a:lnTo>
                  <a:pt x="275467" y="387470"/>
                </a:lnTo>
                <a:cubicBezTo>
                  <a:pt x="275467" y="387470"/>
                  <a:pt x="263561" y="387470"/>
                  <a:pt x="263561" y="375564"/>
                </a:cubicBezTo>
                <a:lnTo>
                  <a:pt x="263561" y="354741"/>
                </a:lnTo>
                <a:cubicBezTo>
                  <a:pt x="263561" y="354741"/>
                  <a:pt x="263561" y="342835"/>
                  <a:pt x="275467" y="342835"/>
                </a:cubicBezTo>
              </a:path>
            </a:pathLst>
          </a:custGeom>
          <a:noFill/>
          <a:ln w="1723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308180" y="2717408"/>
            <a:ext cx="528637" cy="523741"/>
          </a:xfrm>
          <a:custGeom>
            <a:avLst/>
            <a:gdLst/>
            <a:ahLst/>
            <a:cxnLst/>
            <a:rect l="0" t="0" r="0" b="0"/>
            <a:pathLst>
              <a:path w="528637" h="523741">
                <a:moveTo>
                  <a:pt x="120230" y="503653"/>
                </a:moveTo>
                <a:lnTo>
                  <a:pt x="79525" y="511813"/>
                </a:lnTo>
                <a:lnTo>
                  <a:pt x="0" y="114691"/>
                </a:lnTo>
                <a:lnTo>
                  <a:pt x="303667" y="53875"/>
                </a:lnTo>
                <a:lnTo>
                  <a:pt x="326537" y="168037"/>
                </a:lnTo>
                <a:moveTo>
                  <a:pt x="263675" y="145605"/>
                </a:moveTo>
                <a:lnTo>
                  <a:pt x="215017" y="155350"/>
                </a:lnTo>
                <a:moveTo>
                  <a:pt x="273788" y="201548"/>
                </a:moveTo>
                <a:lnTo>
                  <a:pt x="225107" y="211294"/>
                </a:lnTo>
                <a:moveTo>
                  <a:pt x="85703" y="175849"/>
                </a:moveTo>
                <a:lnTo>
                  <a:pt x="152029" y="162566"/>
                </a:lnTo>
                <a:lnTo>
                  <a:pt x="165312" y="228891"/>
                </a:lnTo>
                <a:lnTo>
                  <a:pt x="98986" y="242175"/>
                </a:lnTo>
                <a:close/>
                <a:moveTo>
                  <a:pt x="92856" y="96097"/>
                </a:moveTo>
                <a:lnTo>
                  <a:pt x="96533" y="0"/>
                </a:lnTo>
                <a:lnTo>
                  <a:pt x="406016" y="11813"/>
                </a:lnTo>
                <a:lnTo>
                  <a:pt x="399787" y="175024"/>
                </a:lnTo>
                <a:moveTo>
                  <a:pt x="208581" y="291095"/>
                </a:moveTo>
                <a:lnTo>
                  <a:pt x="504802" y="291095"/>
                </a:lnTo>
                <a:cubicBezTo>
                  <a:pt x="504802" y="291095"/>
                  <a:pt x="528637" y="291095"/>
                  <a:pt x="528637" y="314930"/>
                </a:cubicBezTo>
                <a:lnTo>
                  <a:pt x="528637" y="499907"/>
                </a:lnTo>
                <a:cubicBezTo>
                  <a:pt x="528637" y="499907"/>
                  <a:pt x="528637" y="523741"/>
                  <a:pt x="504802" y="523741"/>
                </a:cubicBezTo>
                <a:lnTo>
                  <a:pt x="208581" y="523741"/>
                </a:lnTo>
                <a:cubicBezTo>
                  <a:pt x="208581" y="523741"/>
                  <a:pt x="184747" y="523741"/>
                  <a:pt x="184747" y="499907"/>
                </a:cubicBezTo>
                <a:lnTo>
                  <a:pt x="184747" y="314930"/>
                </a:lnTo>
                <a:cubicBezTo>
                  <a:pt x="184747" y="314930"/>
                  <a:pt x="184747" y="291095"/>
                  <a:pt x="208581" y="291095"/>
                </a:cubicBezTo>
                <a:moveTo>
                  <a:pt x="184747" y="392226"/>
                </a:moveTo>
                <a:lnTo>
                  <a:pt x="332650" y="392226"/>
                </a:lnTo>
                <a:moveTo>
                  <a:pt x="380733" y="392226"/>
                </a:moveTo>
                <a:lnTo>
                  <a:pt x="528637" y="392226"/>
                </a:lnTo>
                <a:moveTo>
                  <a:pt x="319825" y="237840"/>
                </a:moveTo>
                <a:lnTo>
                  <a:pt x="393559" y="237840"/>
                </a:lnTo>
                <a:cubicBezTo>
                  <a:pt x="406722" y="237840"/>
                  <a:pt x="417393" y="248512"/>
                  <a:pt x="417393" y="261675"/>
                </a:cubicBezTo>
                <a:lnTo>
                  <a:pt x="417393" y="291095"/>
                </a:lnTo>
                <a:lnTo>
                  <a:pt x="417393" y="291095"/>
                </a:lnTo>
                <a:lnTo>
                  <a:pt x="295991" y="291095"/>
                </a:lnTo>
                <a:lnTo>
                  <a:pt x="295991" y="291095"/>
                </a:lnTo>
                <a:lnTo>
                  <a:pt x="295991" y="261675"/>
                </a:lnTo>
                <a:cubicBezTo>
                  <a:pt x="295991" y="248512"/>
                  <a:pt x="306662" y="237840"/>
                  <a:pt x="319825" y="237840"/>
                </a:cubicBezTo>
                <a:close/>
                <a:moveTo>
                  <a:pt x="344556" y="361886"/>
                </a:moveTo>
                <a:cubicBezTo>
                  <a:pt x="332650" y="361886"/>
                  <a:pt x="332650" y="373792"/>
                  <a:pt x="332650" y="373792"/>
                </a:cubicBezTo>
                <a:lnTo>
                  <a:pt x="332650" y="410659"/>
                </a:lnTo>
                <a:cubicBezTo>
                  <a:pt x="332650" y="422565"/>
                  <a:pt x="344556" y="422565"/>
                  <a:pt x="344556" y="422565"/>
                </a:cubicBezTo>
                <a:lnTo>
                  <a:pt x="368828" y="422565"/>
                </a:lnTo>
                <a:cubicBezTo>
                  <a:pt x="380733" y="422565"/>
                  <a:pt x="380733" y="410659"/>
                  <a:pt x="380733" y="410659"/>
                </a:cubicBezTo>
                <a:lnTo>
                  <a:pt x="380733" y="373792"/>
                </a:lnTo>
                <a:cubicBezTo>
                  <a:pt x="380733" y="361886"/>
                  <a:pt x="368828" y="361886"/>
                  <a:pt x="368828" y="361886"/>
                </a:cubicBezTo>
                <a:lnTo>
                  <a:pt x="344556" y="361886"/>
                </a:lnTo>
              </a:path>
            </a:pathLst>
          </a:custGeom>
          <a:noFill/>
          <a:ln w="17237">
            <a:solidFill>
              <a:srgbClr val="BA5DE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112224" y="2748732"/>
            <a:ext cx="436735" cy="460377"/>
          </a:xfrm>
          <a:custGeom>
            <a:avLst/>
            <a:gdLst/>
            <a:ahLst/>
            <a:cxnLst/>
            <a:rect l="0" t="0" r="0" b="0"/>
            <a:pathLst>
              <a:path w="436735" h="460377">
                <a:moveTo>
                  <a:pt x="436733" y="345455"/>
                </a:moveTo>
                <a:lnTo>
                  <a:pt x="436733" y="32870"/>
                </a:lnTo>
                <a:cubicBezTo>
                  <a:pt x="436735" y="27495"/>
                  <a:pt x="433012" y="22836"/>
                  <a:pt x="427769" y="21653"/>
                </a:cubicBezTo>
                <a:cubicBezTo>
                  <a:pt x="358947" y="7050"/>
                  <a:pt x="288734" y="20"/>
                  <a:pt x="218382" y="692"/>
                </a:cubicBezTo>
                <a:lnTo>
                  <a:pt x="218382" y="692"/>
                </a:lnTo>
                <a:cubicBezTo>
                  <a:pt x="148042" y="0"/>
                  <a:pt x="77836" y="7005"/>
                  <a:pt x="9019" y="21584"/>
                </a:cubicBezTo>
                <a:cubicBezTo>
                  <a:pt x="3741" y="22763"/>
                  <a:pt x="0" y="27462"/>
                  <a:pt x="32" y="32870"/>
                </a:cubicBezTo>
                <a:lnTo>
                  <a:pt x="32" y="345455"/>
                </a:lnTo>
                <a:moveTo>
                  <a:pt x="436733" y="345455"/>
                </a:moveTo>
                <a:cubicBezTo>
                  <a:pt x="398418" y="414017"/>
                  <a:pt x="302505" y="460377"/>
                  <a:pt x="218382" y="460377"/>
                </a:cubicBezTo>
                <a:cubicBezTo>
                  <a:pt x="134260" y="460377"/>
                  <a:pt x="38347" y="414017"/>
                  <a:pt x="32" y="345455"/>
                </a:cubicBezTo>
                <a:close/>
                <a:moveTo>
                  <a:pt x="32" y="299487"/>
                </a:moveTo>
                <a:lnTo>
                  <a:pt x="436733" y="299487"/>
                </a:lnTo>
                <a:moveTo>
                  <a:pt x="275843" y="165581"/>
                </a:moveTo>
                <a:lnTo>
                  <a:pt x="275843" y="127105"/>
                </a:lnTo>
                <a:cubicBezTo>
                  <a:pt x="275843" y="120758"/>
                  <a:pt x="270698" y="115613"/>
                  <a:pt x="264351" y="115613"/>
                </a:cubicBezTo>
                <a:lnTo>
                  <a:pt x="172414" y="115613"/>
                </a:lnTo>
                <a:cubicBezTo>
                  <a:pt x="166067" y="115613"/>
                  <a:pt x="160922" y="120758"/>
                  <a:pt x="160922" y="127105"/>
                </a:cubicBezTo>
                <a:lnTo>
                  <a:pt x="160922" y="165581"/>
                </a:lnTo>
                <a:cubicBezTo>
                  <a:pt x="160922" y="214100"/>
                  <a:pt x="218382" y="242026"/>
                  <a:pt x="218382" y="242026"/>
                </a:cubicBezTo>
                <a:cubicBezTo>
                  <a:pt x="218382" y="242026"/>
                  <a:pt x="275843" y="213985"/>
                  <a:pt x="275843" y="165581"/>
                </a:cubicBezTo>
                <a:close/>
                <a:moveTo>
                  <a:pt x="32" y="69644"/>
                </a:moveTo>
                <a:cubicBezTo>
                  <a:pt x="71681" y="53560"/>
                  <a:pt x="144955" y="45847"/>
                  <a:pt x="218382" y="46660"/>
                </a:cubicBezTo>
                <a:lnTo>
                  <a:pt x="218382" y="46660"/>
                </a:lnTo>
                <a:cubicBezTo>
                  <a:pt x="291810" y="45847"/>
                  <a:pt x="365084" y="53560"/>
                  <a:pt x="436733" y="69644"/>
                </a:cubicBezTo>
              </a:path>
            </a:pathLst>
          </a:custGeom>
          <a:noFill/>
          <a:ln w="17237">
            <a:solidFill>
              <a:srgbClr val="DE58A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929125" y="3128664"/>
            <a:ext cx="528637" cy="528637"/>
          </a:xfrm>
          <a:custGeom>
            <a:avLst/>
            <a:gdLst/>
            <a:ahLst/>
            <a:cxnLst/>
            <a:rect l="0" t="0" r="0" b="0"/>
            <a:pathLst>
              <a:path w="528637" h="528637">
                <a:moveTo>
                  <a:pt x="103429" y="264318"/>
                </a:moveTo>
                <a:lnTo>
                  <a:pt x="103429" y="333271"/>
                </a:lnTo>
                <a:moveTo>
                  <a:pt x="149397" y="528637"/>
                </a:moveTo>
                <a:lnTo>
                  <a:pt x="160889" y="413716"/>
                </a:lnTo>
                <a:lnTo>
                  <a:pt x="206858" y="413716"/>
                </a:lnTo>
                <a:lnTo>
                  <a:pt x="206858" y="321779"/>
                </a:lnTo>
                <a:cubicBezTo>
                  <a:pt x="206858" y="264657"/>
                  <a:pt x="160551" y="218350"/>
                  <a:pt x="103429" y="218350"/>
                </a:cubicBezTo>
                <a:cubicBezTo>
                  <a:pt x="46306" y="218350"/>
                  <a:pt x="0" y="264657"/>
                  <a:pt x="0" y="321779"/>
                </a:cubicBezTo>
                <a:lnTo>
                  <a:pt x="0" y="413716"/>
                </a:lnTo>
                <a:lnTo>
                  <a:pt x="45968" y="413716"/>
                </a:lnTo>
                <a:lnTo>
                  <a:pt x="57460" y="528637"/>
                </a:lnTo>
                <a:moveTo>
                  <a:pt x="172381" y="105497"/>
                </a:moveTo>
                <a:cubicBezTo>
                  <a:pt x="157870" y="111766"/>
                  <a:pt x="142221" y="114975"/>
                  <a:pt x="126413" y="114921"/>
                </a:cubicBezTo>
                <a:cubicBezTo>
                  <a:pt x="95541" y="114916"/>
                  <a:pt x="65969" y="102491"/>
                  <a:pt x="44359" y="80444"/>
                </a:cubicBezTo>
                <a:moveTo>
                  <a:pt x="34936" y="114921"/>
                </a:moveTo>
                <a:cubicBezTo>
                  <a:pt x="34932" y="153005"/>
                  <a:pt x="65701" y="183881"/>
                  <a:pt x="103658" y="183881"/>
                </a:cubicBezTo>
                <a:cubicBezTo>
                  <a:pt x="141616" y="183881"/>
                  <a:pt x="172385" y="153005"/>
                  <a:pt x="172381" y="114921"/>
                </a:cubicBezTo>
                <a:cubicBezTo>
                  <a:pt x="172385" y="76836"/>
                  <a:pt x="141616" y="45961"/>
                  <a:pt x="103658" y="45961"/>
                </a:cubicBezTo>
                <a:cubicBezTo>
                  <a:pt x="65701" y="45961"/>
                  <a:pt x="34932" y="76836"/>
                  <a:pt x="34936" y="114921"/>
                </a:cubicBezTo>
                <a:moveTo>
                  <a:pt x="172381" y="0"/>
                </a:moveTo>
                <a:lnTo>
                  <a:pt x="505653" y="0"/>
                </a:lnTo>
                <a:cubicBezTo>
                  <a:pt x="518347" y="0"/>
                  <a:pt x="528637" y="10290"/>
                  <a:pt x="528637" y="22984"/>
                </a:cubicBezTo>
                <a:lnTo>
                  <a:pt x="528637" y="252826"/>
                </a:lnTo>
                <a:cubicBezTo>
                  <a:pt x="528637" y="265520"/>
                  <a:pt x="518347" y="275810"/>
                  <a:pt x="505653" y="275810"/>
                </a:cubicBezTo>
                <a:lnTo>
                  <a:pt x="264318" y="275810"/>
                </a:lnTo>
                <a:moveTo>
                  <a:pt x="321779" y="275810"/>
                </a:moveTo>
                <a:lnTo>
                  <a:pt x="321779" y="413716"/>
                </a:lnTo>
                <a:moveTo>
                  <a:pt x="275810" y="413716"/>
                </a:moveTo>
                <a:lnTo>
                  <a:pt x="367747" y="413716"/>
                </a:lnTo>
                <a:moveTo>
                  <a:pt x="241334" y="160889"/>
                </a:moveTo>
                <a:lnTo>
                  <a:pt x="310287" y="91936"/>
                </a:lnTo>
                <a:lnTo>
                  <a:pt x="344763" y="126413"/>
                </a:lnTo>
                <a:lnTo>
                  <a:pt x="425208" y="45968"/>
                </a:lnTo>
                <a:moveTo>
                  <a:pt x="425208" y="103429"/>
                </a:moveTo>
                <a:lnTo>
                  <a:pt x="425208" y="45968"/>
                </a:lnTo>
                <a:lnTo>
                  <a:pt x="367747" y="45968"/>
                </a:lnTo>
                <a:moveTo>
                  <a:pt x="390732" y="183873"/>
                </a:moveTo>
                <a:lnTo>
                  <a:pt x="436700" y="183873"/>
                </a:lnTo>
                <a:moveTo>
                  <a:pt x="390732" y="229842"/>
                </a:moveTo>
                <a:lnTo>
                  <a:pt x="459684" y="229842"/>
                </a:lnTo>
              </a:path>
            </a:pathLst>
          </a:custGeom>
          <a:noFill/>
          <a:ln w="17237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687326" y="3128669"/>
            <a:ext cx="528637" cy="527552"/>
          </a:xfrm>
          <a:custGeom>
            <a:avLst/>
            <a:gdLst/>
            <a:ahLst/>
            <a:cxnLst/>
            <a:rect l="0" t="0" r="0" b="0"/>
            <a:pathLst>
              <a:path w="528637" h="527552">
                <a:moveTo>
                  <a:pt x="172381" y="527552"/>
                </a:moveTo>
                <a:lnTo>
                  <a:pt x="528637" y="527552"/>
                </a:lnTo>
                <a:moveTo>
                  <a:pt x="229842" y="481584"/>
                </a:moveTo>
                <a:lnTo>
                  <a:pt x="229842" y="366663"/>
                </a:lnTo>
                <a:moveTo>
                  <a:pt x="298795" y="481584"/>
                </a:moveTo>
                <a:lnTo>
                  <a:pt x="298795" y="366663"/>
                </a:lnTo>
                <a:moveTo>
                  <a:pt x="413716" y="481584"/>
                </a:moveTo>
                <a:lnTo>
                  <a:pt x="413716" y="366663"/>
                </a:lnTo>
                <a:moveTo>
                  <a:pt x="482669" y="481584"/>
                </a:moveTo>
                <a:lnTo>
                  <a:pt x="482669" y="366663"/>
                </a:lnTo>
                <a:moveTo>
                  <a:pt x="206858" y="366663"/>
                </a:moveTo>
                <a:lnTo>
                  <a:pt x="321779" y="366663"/>
                </a:lnTo>
                <a:moveTo>
                  <a:pt x="390732" y="366663"/>
                </a:moveTo>
                <a:lnTo>
                  <a:pt x="505653" y="366663"/>
                </a:lnTo>
                <a:moveTo>
                  <a:pt x="0" y="90852"/>
                </a:moveTo>
                <a:lnTo>
                  <a:pt x="229842" y="90852"/>
                </a:lnTo>
                <a:lnTo>
                  <a:pt x="229842" y="251741"/>
                </a:lnTo>
                <a:lnTo>
                  <a:pt x="0" y="251741"/>
                </a:lnTo>
                <a:close/>
                <a:moveTo>
                  <a:pt x="38981" y="90852"/>
                </a:moveTo>
                <a:lnTo>
                  <a:pt x="56403" y="10131"/>
                </a:lnTo>
                <a:cubicBezTo>
                  <a:pt x="57755" y="3930"/>
                  <a:pt x="63878" y="0"/>
                  <a:pt x="70078" y="1351"/>
                </a:cubicBezTo>
                <a:lnTo>
                  <a:pt x="270869" y="45021"/>
                </a:lnTo>
                <a:cubicBezTo>
                  <a:pt x="277059" y="46374"/>
                  <a:pt x="280986" y="52481"/>
                  <a:pt x="279649" y="58674"/>
                </a:cubicBezTo>
                <a:lnTo>
                  <a:pt x="254228" y="175687"/>
                </a:lnTo>
                <a:cubicBezTo>
                  <a:pt x="252876" y="181876"/>
                  <a:pt x="246769" y="185804"/>
                  <a:pt x="240576" y="184466"/>
                </a:cubicBezTo>
                <a:lnTo>
                  <a:pt x="229842" y="182168"/>
                </a:lnTo>
                <a:moveTo>
                  <a:pt x="80444" y="171297"/>
                </a:moveTo>
                <a:cubicBezTo>
                  <a:pt x="80444" y="190337"/>
                  <a:pt x="95880" y="205773"/>
                  <a:pt x="114921" y="205773"/>
                </a:cubicBezTo>
                <a:cubicBezTo>
                  <a:pt x="133961" y="205773"/>
                  <a:pt x="149397" y="190337"/>
                  <a:pt x="149397" y="171297"/>
                </a:cubicBezTo>
                <a:cubicBezTo>
                  <a:pt x="149397" y="152256"/>
                  <a:pt x="133961" y="136820"/>
                  <a:pt x="114921" y="136820"/>
                </a:cubicBezTo>
                <a:cubicBezTo>
                  <a:pt x="95880" y="136820"/>
                  <a:pt x="80444" y="152256"/>
                  <a:pt x="80444" y="171297"/>
                </a:cubicBezTo>
                <a:close/>
                <a:moveTo>
                  <a:pt x="287211" y="217265"/>
                </a:moveTo>
                <a:lnTo>
                  <a:pt x="349797" y="175549"/>
                </a:lnTo>
                <a:cubicBezTo>
                  <a:pt x="353653" y="172982"/>
                  <a:pt x="358673" y="172982"/>
                  <a:pt x="362530" y="175549"/>
                </a:cubicBezTo>
                <a:lnTo>
                  <a:pt x="523420" y="282793"/>
                </a:lnTo>
                <a:cubicBezTo>
                  <a:pt x="526620" y="284922"/>
                  <a:pt x="528543" y="288511"/>
                  <a:pt x="528545" y="292355"/>
                </a:cubicBezTo>
                <a:lnTo>
                  <a:pt x="528545" y="309202"/>
                </a:lnTo>
                <a:cubicBezTo>
                  <a:pt x="528545" y="315549"/>
                  <a:pt x="523400" y="320694"/>
                  <a:pt x="517053" y="320694"/>
                </a:cubicBezTo>
                <a:lnTo>
                  <a:pt x="195274" y="320694"/>
                </a:lnTo>
                <a:cubicBezTo>
                  <a:pt x="188927" y="320694"/>
                  <a:pt x="183781" y="315549"/>
                  <a:pt x="183781" y="309202"/>
                </a:cubicBezTo>
              </a:path>
            </a:pathLst>
          </a:custGeom>
          <a:noFill/>
          <a:ln w="17237">
            <a:solidFill>
              <a:srgbClr val="7F64E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0" name="Group 29"/>
          <p:cNvGrpSpPr/>
          <p:nvPr/>
        </p:nvGrpSpPr>
        <p:grpSpPr>
          <a:xfrm>
            <a:off x="2570576" y="4220449"/>
            <a:ext cx="1245736" cy="551563"/>
            <a:chOff x="2570077" y="4220436"/>
            <a:chExt cx="1245736" cy="551563"/>
          </a:xfrm>
        </p:grpSpPr>
        <p:sp>
          <p:nvSpPr>
            <p:cNvPr id="28" name="TextBox 27"/>
            <p:cNvSpPr txBox="1"/>
            <p:nvPr/>
          </p:nvSpPr>
          <p:spPr>
            <a:xfrm>
              <a:off x="2570077" y="4220436"/>
              <a:ext cx="1245736" cy="275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>
                  <a:solidFill>
                    <a:srgbClr val="4E88E7"/>
                  </a:solidFill>
                  <a:latin typeface="Roboto"/>
                </a:rPr>
                <a:t>Retail Sales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570077" y="4496184"/>
              <a:ext cx="1245736" cy="2758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>
                  <a:solidFill>
                    <a:srgbClr val="4E88E7"/>
                  </a:solidFill>
                  <a:latin typeface="Roboto"/>
                </a:rPr>
                <a:t>Executive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980527" y="4220449"/>
            <a:ext cx="1942061" cy="551563"/>
            <a:chOff x="4980028" y="4220436"/>
            <a:chExt cx="1942061" cy="551563"/>
          </a:xfrm>
        </p:grpSpPr>
        <p:sp>
          <p:nvSpPr>
            <p:cNvPr id="31" name="TextBox 30"/>
            <p:cNvSpPr txBox="1"/>
            <p:nvPr/>
          </p:nvSpPr>
          <p:spPr>
            <a:xfrm>
              <a:off x="4980028" y="4220436"/>
              <a:ext cx="1942061" cy="275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>
                  <a:solidFill>
                    <a:srgbClr val="7F64EA"/>
                  </a:solidFill>
                  <a:latin typeface="Roboto"/>
                </a:rPr>
                <a:t>Branch Operations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980028" y="4496184"/>
              <a:ext cx="1942061" cy="2758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800" b="0">
                  <a:solidFill>
                    <a:srgbClr val="7F64EA"/>
                  </a:solidFill>
                  <a:latin typeface="Roboto"/>
                </a:rPr>
                <a:t>Officer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Click="0">
        <p15:prstTrans prst="prestig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13282" y="3512151"/>
            <a:ext cx="1784003" cy="1154096"/>
          </a:xfrm>
          <a:custGeom>
            <a:avLst/>
            <a:gdLst/>
            <a:ahLst/>
            <a:cxnLst/>
            <a:rect l="0" t="0" r="0" b="0"/>
            <a:pathLst>
              <a:path w="1784003" h="1154096">
                <a:moveTo>
                  <a:pt x="113661" y="96821"/>
                </a:moveTo>
                <a:cubicBezTo>
                  <a:pt x="112604" y="96650"/>
                  <a:pt x="111528" y="96469"/>
                  <a:pt x="110432" y="96297"/>
                </a:cubicBezTo>
                <a:cubicBezTo>
                  <a:pt x="88792" y="92744"/>
                  <a:pt x="60331" y="88077"/>
                  <a:pt x="21888" y="60112"/>
                </a:cubicBezTo>
                <a:cubicBezTo>
                  <a:pt x="3238" y="46558"/>
                  <a:pt x="0" y="22564"/>
                  <a:pt x="2714" y="0"/>
                </a:cubicBezTo>
                <a:lnTo>
                  <a:pt x="1530696" y="0"/>
                </a:lnTo>
                <a:lnTo>
                  <a:pt x="1530696" y="134769"/>
                </a:lnTo>
                <a:cubicBezTo>
                  <a:pt x="1674733" y="160734"/>
                  <a:pt x="1784003" y="286721"/>
                  <a:pt x="1784003" y="438235"/>
                </a:cubicBezTo>
                <a:cubicBezTo>
                  <a:pt x="1784003" y="589749"/>
                  <a:pt x="1674733" y="715746"/>
                  <a:pt x="1530696" y="741702"/>
                </a:cubicBezTo>
                <a:lnTo>
                  <a:pt x="1530696" y="1154096"/>
                </a:lnTo>
                <a:lnTo>
                  <a:pt x="972693" y="1154096"/>
                </a:lnTo>
                <a:cubicBezTo>
                  <a:pt x="970245" y="1133294"/>
                  <a:pt x="964615" y="1083611"/>
                  <a:pt x="961682" y="1051312"/>
                </a:cubicBezTo>
                <a:cubicBezTo>
                  <a:pt x="958005" y="1010926"/>
                  <a:pt x="939650" y="922820"/>
                  <a:pt x="928639" y="897121"/>
                </a:cubicBezTo>
                <a:cubicBezTo>
                  <a:pt x="917628" y="871423"/>
                  <a:pt x="899274" y="845724"/>
                  <a:pt x="855221" y="820026"/>
                </a:cubicBezTo>
                <a:cubicBezTo>
                  <a:pt x="811168" y="794337"/>
                  <a:pt x="767114" y="790660"/>
                  <a:pt x="712050" y="790660"/>
                </a:cubicBezTo>
                <a:cubicBezTo>
                  <a:pt x="689143" y="790660"/>
                  <a:pt x="668778" y="793832"/>
                  <a:pt x="643299" y="797813"/>
                </a:cubicBezTo>
                <a:cubicBezTo>
                  <a:pt x="607514" y="803386"/>
                  <a:pt x="561632" y="810539"/>
                  <a:pt x="484441" y="812692"/>
                </a:cubicBezTo>
                <a:cubicBezTo>
                  <a:pt x="354301" y="816302"/>
                  <a:pt x="298913" y="770077"/>
                  <a:pt x="276215" y="751141"/>
                </a:cubicBezTo>
                <a:lnTo>
                  <a:pt x="275186" y="750284"/>
                </a:lnTo>
                <a:cubicBezTo>
                  <a:pt x="253155" y="731920"/>
                  <a:pt x="249488" y="654834"/>
                  <a:pt x="260499" y="599760"/>
                </a:cubicBezTo>
                <a:cubicBezTo>
                  <a:pt x="269214" y="556193"/>
                  <a:pt x="266442" y="544801"/>
                  <a:pt x="263080" y="531028"/>
                </a:cubicBezTo>
                <a:cubicBezTo>
                  <a:pt x="262194" y="527399"/>
                  <a:pt x="261270" y="523598"/>
                  <a:pt x="260499" y="518998"/>
                </a:cubicBezTo>
                <a:cubicBezTo>
                  <a:pt x="258165" y="504958"/>
                  <a:pt x="246868" y="490918"/>
                  <a:pt x="233286" y="474021"/>
                </a:cubicBezTo>
                <a:cubicBezTo>
                  <a:pt x="225561" y="464419"/>
                  <a:pt x="217093" y="453885"/>
                  <a:pt x="209102" y="441912"/>
                </a:cubicBezTo>
                <a:cubicBezTo>
                  <a:pt x="191481" y="415480"/>
                  <a:pt x="196872" y="384390"/>
                  <a:pt x="201768" y="372160"/>
                </a:cubicBezTo>
                <a:cubicBezTo>
                  <a:pt x="210826" y="357054"/>
                  <a:pt x="212436" y="351891"/>
                  <a:pt x="214760" y="344404"/>
                </a:cubicBezTo>
                <a:cubicBezTo>
                  <a:pt x="215264" y="342785"/>
                  <a:pt x="215798" y="341071"/>
                  <a:pt x="216446" y="339118"/>
                </a:cubicBezTo>
                <a:cubicBezTo>
                  <a:pt x="218713" y="332308"/>
                  <a:pt x="209769" y="328307"/>
                  <a:pt x="197405" y="322773"/>
                </a:cubicBezTo>
                <a:cubicBezTo>
                  <a:pt x="189757" y="319363"/>
                  <a:pt x="180813" y="315353"/>
                  <a:pt x="172392" y="309752"/>
                </a:cubicBezTo>
                <a:cubicBezTo>
                  <a:pt x="154771" y="297999"/>
                  <a:pt x="150371" y="270586"/>
                  <a:pt x="150371" y="258356"/>
                </a:cubicBezTo>
                <a:lnTo>
                  <a:pt x="150371" y="137207"/>
                </a:lnTo>
                <a:cubicBezTo>
                  <a:pt x="150371" y="115176"/>
                  <a:pt x="135683" y="100498"/>
                  <a:pt x="113661" y="96821"/>
                </a:cubicBezTo>
                <a:moveTo>
                  <a:pt x="1473984" y="697506"/>
                </a:moveTo>
                <a:cubicBezTo>
                  <a:pt x="1617935" y="697506"/>
                  <a:pt x="1734635" y="580815"/>
                  <a:pt x="1734635" y="436864"/>
                </a:cubicBezTo>
                <a:cubicBezTo>
                  <a:pt x="1734635" y="292912"/>
                  <a:pt x="1617935" y="176212"/>
                  <a:pt x="1473984" y="176212"/>
                </a:cubicBezTo>
                <a:cubicBezTo>
                  <a:pt x="1330032" y="176212"/>
                  <a:pt x="1213342" y="292912"/>
                  <a:pt x="1213342" y="436864"/>
                </a:cubicBezTo>
                <a:cubicBezTo>
                  <a:pt x="1213342" y="580815"/>
                  <a:pt x="1330032" y="697506"/>
                  <a:pt x="1473984" y="697506"/>
                </a:cubicBezTo>
              </a:path>
            </a:pathLst>
          </a:custGeom>
          <a:solidFill>
            <a:srgbClr val="92BD39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13285" y="3512151"/>
            <a:ext cx="1784003" cy="1154100"/>
          </a:xfrm>
          <a:custGeom>
            <a:avLst/>
            <a:gdLst/>
            <a:ahLst/>
            <a:cxnLst/>
            <a:rect l="0" t="0" r="0" b="0"/>
            <a:pathLst>
              <a:path w="1784003" h="1154100">
                <a:moveTo>
                  <a:pt x="113655" y="96825"/>
                </a:moveTo>
                <a:cubicBezTo>
                  <a:pt x="112599" y="96648"/>
                  <a:pt x="111524" y="96472"/>
                  <a:pt x="110434" y="96293"/>
                </a:cubicBezTo>
                <a:cubicBezTo>
                  <a:pt x="88786" y="92742"/>
                  <a:pt x="60325" y="88073"/>
                  <a:pt x="21881" y="60114"/>
                </a:cubicBezTo>
                <a:cubicBezTo>
                  <a:pt x="3240" y="46556"/>
                  <a:pt x="0" y="22569"/>
                  <a:pt x="2710" y="0"/>
                </a:cubicBezTo>
                <a:lnTo>
                  <a:pt x="1530697" y="0"/>
                </a:lnTo>
                <a:lnTo>
                  <a:pt x="1530697" y="134767"/>
                </a:lnTo>
                <a:cubicBezTo>
                  <a:pt x="1674732" y="160731"/>
                  <a:pt x="1784003" y="286723"/>
                  <a:pt x="1784003" y="438236"/>
                </a:cubicBezTo>
                <a:cubicBezTo>
                  <a:pt x="1784003" y="589750"/>
                  <a:pt x="1674732" y="715742"/>
                  <a:pt x="1530697" y="741706"/>
                </a:cubicBezTo>
                <a:lnTo>
                  <a:pt x="1530697" y="1154100"/>
                </a:lnTo>
                <a:lnTo>
                  <a:pt x="972691" y="1154100"/>
                </a:lnTo>
                <a:cubicBezTo>
                  <a:pt x="970244" y="1133297"/>
                  <a:pt x="964615" y="1083615"/>
                  <a:pt x="961678" y="1051309"/>
                </a:cubicBezTo>
                <a:cubicBezTo>
                  <a:pt x="958007" y="1010927"/>
                  <a:pt x="939651" y="922821"/>
                  <a:pt x="928638" y="897123"/>
                </a:cubicBezTo>
                <a:cubicBezTo>
                  <a:pt x="917625" y="871425"/>
                  <a:pt x="899269" y="845728"/>
                  <a:pt x="855216" y="820030"/>
                </a:cubicBezTo>
                <a:cubicBezTo>
                  <a:pt x="811163" y="794332"/>
                  <a:pt x="767110" y="790661"/>
                  <a:pt x="712043" y="790661"/>
                </a:cubicBezTo>
                <a:cubicBezTo>
                  <a:pt x="689142" y="790661"/>
                  <a:pt x="668780" y="793836"/>
                  <a:pt x="643298" y="797810"/>
                </a:cubicBezTo>
                <a:cubicBezTo>
                  <a:pt x="607513" y="803389"/>
                  <a:pt x="561630" y="810543"/>
                  <a:pt x="484436" y="812688"/>
                </a:cubicBezTo>
                <a:cubicBezTo>
                  <a:pt x="354294" y="816303"/>
                  <a:pt x="298909" y="770080"/>
                  <a:pt x="276216" y="751140"/>
                </a:cubicBezTo>
                <a:lnTo>
                  <a:pt x="275183" y="750279"/>
                </a:lnTo>
                <a:cubicBezTo>
                  <a:pt x="253157" y="731924"/>
                  <a:pt x="249486" y="654831"/>
                  <a:pt x="260499" y="599764"/>
                </a:cubicBezTo>
                <a:cubicBezTo>
                  <a:pt x="269213" y="556191"/>
                  <a:pt x="266435" y="544798"/>
                  <a:pt x="263077" y="531028"/>
                </a:cubicBezTo>
                <a:cubicBezTo>
                  <a:pt x="262191" y="527395"/>
                  <a:pt x="261265" y="523597"/>
                  <a:pt x="260499" y="519000"/>
                </a:cubicBezTo>
                <a:cubicBezTo>
                  <a:pt x="258159" y="504959"/>
                  <a:pt x="246868" y="490918"/>
                  <a:pt x="233284" y="474024"/>
                </a:cubicBezTo>
                <a:cubicBezTo>
                  <a:pt x="225557" y="464416"/>
                  <a:pt x="217089" y="453885"/>
                  <a:pt x="209104" y="441907"/>
                </a:cubicBezTo>
                <a:cubicBezTo>
                  <a:pt x="191482" y="415476"/>
                  <a:pt x="196866" y="384394"/>
                  <a:pt x="201761" y="372157"/>
                </a:cubicBezTo>
                <a:cubicBezTo>
                  <a:pt x="210824" y="357052"/>
                  <a:pt x="212429" y="351891"/>
                  <a:pt x="214759" y="344400"/>
                </a:cubicBezTo>
                <a:cubicBezTo>
                  <a:pt x="215261" y="342788"/>
                  <a:pt x="215795" y="341068"/>
                  <a:pt x="216446" y="339117"/>
                </a:cubicBezTo>
                <a:cubicBezTo>
                  <a:pt x="218714" y="332310"/>
                  <a:pt x="209766" y="328308"/>
                  <a:pt x="197399" y="322777"/>
                </a:cubicBezTo>
                <a:cubicBezTo>
                  <a:pt x="189755" y="319359"/>
                  <a:pt x="180806" y="315357"/>
                  <a:pt x="172393" y="309748"/>
                </a:cubicBezTo>
                <a:cubicBezTo>
                  <a:pt x="154771" y="298001"/>
                  <a:pt x="150366" y="270590"/>
                  <a:pt x="150366" y="258353"/>
                </a:cubicBezTo>
                <a:lnTo>
                  <a:pt x="150366" y="137207"/>
                </a:lnTo>
                <a:cubicBezTo>
                  <a:pt x="150366" y="115180"/>
                  <a:pt x="135682" y="100496"/>
                  <a:pt x="113655" y="96825"/>
                </a:cubicBezTo>
                <a:close/>
                <a:moveTo>
                  <a:pt x="1473982" y="697507"/>
                </a:moveTo>
                <a:cubicBezTo>
                  <a:pt x="1617933" y="697507"/>
                  <a:pt x="1734629" y="580811"/>
                  <a:pt x="1734629" y="436860"/>
                </a:cubicBezTo>
                <a:cubicBezTo>
                  <a:pt x="1734629" y="292908"/>
                  <a:pt x="1617933" y="176212"/>
                  <a:pt x="1473982" y="176212"/>
                </a:cubicBezTo>
                <a:cubicBezTo>
                  <a:pt x="1330030" y="176212"/>
                  <a:pt x="1213334" y="292908"/>
                  <a:pt x="1213334" y="436860"/>
                </a:cubicBezTo>
                <a:cubicBezTo>
                  <a:pt x="1213334" y="580811"/>
                  <a:pt x="1330030" y="697507"/>
                  <a:pt x="1473982" y="697507"/>
                </a:cubicBezTo>
                <a:close/>
              </a:path>
            </a:pathLst>
          </a:custGeom>
          <a:noFill/>
          <a:ln w="11015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215995" y="2631088"/>
            <a:ext cx="1781289" cy="881062"/>
          </a:xfrm>
          <a:custGeom>
            <a:avLst/>
            <a:gdLst/>
            <a:ahLst/>
            <a:cxnLst/>
            <a:rect l="0" t="0" r="0" b="0"/>
            <a:pathLst>
              <a:path w="1781289" h="881062">
                <a:moveTo>
                  <a:pt x="121958" y="295065"/>
                </a:moveTo>
                <a:cubicBezTo>
                  <a:pt x="110213" y="268633"/>
                  <a:pt x="109718" y="132311"/>
                  <a:pt x="110947" y="67456"/>
                </a:cubicBezTo>
                <a:cubicBezTo>
                  <a:pt x="110737" y="49329"/>
                  <a:pt x="112499" y="26517"/>
                  <a:pt x="116900" y="0"/>
                </a:cubicBezTo>
                <a:lnTo>
                  <a:pt x="1527990" y="0"/>
                </a:lnTo>
                <a:lnTo>
                  <a:pt x="1527990" y="134769"/>
                </a:lnTo>
                <a:cubicBezTo>
                  <a:pt x="1672018" y="160734"/>
                  <a:pt x="1781289" y="286721"/>
                  <a:pt x="1781289" y="438235"/>
                </a:cubicBezTo>
                <a:cubicBezTo>
                  <a:pt x="1781289" y="589749"/>
                  <a:pt x="1672018" y="715746"/>
                  <a:pt x="1527990" y="741702"/>
                </a:cubicBezTo>
                <a:lnTo>
                  <a:pt x="1527990" y="881062"/>
                </a:lnTo>
                <a:lnTo>
                  <a:pt x="0" y="881062"/>
                </a:lnTo>
                <a:cubicBezTo>
                  <a:pt x="1990" y="864517"/>
                  <a:pt x="7172" y="848734"/>
                  <a:pt x="11830" y="838390"/>
                </a:cubicBezTo>
                <a:cubicBezTo>
                  <a:pt x="32632" y="791889"/>
                  <a:pt x="81581" y="687133"/>
                  <a:pt x="110947" y="640146"/>
                </a:cubicBezTo>
                <a:cubicBezTo>
                  <a:pt x="147656" y="581406"/>
                  <a:pt x="173354" y="500643"/>
                  <a:pt x="180698" y="452923"/>
                </a:cubicBezTo>
                <a:cubicBezTo>
                  <a:pt x="186328" y="416328"/>
                  <a:pt x="157419" y="362464"/>
                  <a:pt x="137007" y="324431"/>
                </a:cubicBezTo>
                <a:cubicBezTo>
                  <a:pt x="130806" y="312867"/>
                  <a:pt x="125387" y="302771"/>
                  <a:pt x="121958" y="295065"/>
                </a:cubicBezTo>
                <a:moveTo>
                  <a:pt x="1471269" y="697506"/>
                </a:moveTo>
                <a:cubicBezTo>
                  <a:pt x="1615220" y="697506"/>
                  <a:pt x="1731921" y="580815"/>
                  <a:pt x="1731921" y="436864"/>
                </a:cubicBezTo>
                <a:cubicBezTo>
                  <a:pt x="1731921" y="292912"/>
                  <a:pt x="1615220" y="176212"/>
                  <a:pt x="1471269" y="176212"/>
                </a:cubicBezTo>
                <a:cubicBezTo>
                  <a:pt x="1327318" y="176212"/>
                  <a:pt x="1210617" y="292912"/>
                  <a:pt x="1210617" y="436864"/>
                </a:cubicBezTo>
                <a:cubicBezTo>
                  <a:pt x="1210617" y="580815"/>
                  <a:pt x="1327318" y="697506"/>
                  <a:pt x="1471269" y="697506"/>
                </a:cubicBezTo>
              </a:path>
            </a:pathLst>
          </a:custGeom>
          <a:solidFill>
            <a:srgbClr val="3CC583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15995" y="2631088"/>
            <a:ext cx="1781292" cy="881062"/>
          </a:xfrm>
          <a:custGeom>
            <a:avLst/>
            <a:gdLst/>
            <a:ahLst/>
            <a:cxnLst/>
            <a:rect l="0" t="0" r="0" b="0"/>
            <a:pathLst>
              <a:path w="1781292" h="881062">
                <a:moveTo>
                  <a:pt x="121958" y="295064"/>
                </a:moveTo>
                <a:cubicBezTo>
                  <a:pt x="110211" y="268632"/>
                  <a:pt x="109723" y="132312"/>
                  <a:pt x="110947" y="67456"/>
                </a:cubicBezTo>
                <a:cubicBezTo>
                  <a:pt x="110741" y="49334"/>
                  <a:pt x="112496" y="26519"/>
                  <a:pt x="116903" y="0"/>
                </a:cubicBezTo>
                <a:lnTo>
                  <a:pt x="1527986" y="0"/>
                </a:lnTo>
                <a:lnTo>
                  <a:pt x="1527986" y="134767"/>
                </a:lnTo>
                <a:cubicBezTo>
                  <a:pt x="1672022" y="160731"/>
                  <a:pt x="1781292" y="286723"/>
                  <a:pt x="1781292" y="438236"/>
                </a:cubicBezTo>
                <a:cubicBezTo>
                  <a:pt x="1781292" y="589750"/>
                  <a:pt x="1672022" y="715742"/>
                  <a:pt x="1527986" y="741706"/>
                </a:cubicBezTo>
                <a:lnTo>
                  <a:pt x="1527986" y="881062"/>
                </a:lnTo>
                <a:lnTo>
                  <a:pt x="0" y="881062"/>
                </a:lnTo>
                <a:cubicBezTo>
                  <a:pt x="1986" y="864519"/>
                  <a:pt x="7170" y="848737"/>
                  <a:pt x="11828" y="838386"/>
                </a:cubicBezTo>
                <a:cubicBezTo>
                  <a:pt x="32631" y="791885"/>
                  <a:pt x="81579" y="687136"/>
                  <a:pt x="110948" y="640146"/>
                </a:cubicBezTo>
                <a:cubicBezTo>
                  <a:pt x="147659" y="581409"/>
                  <a:pt x="173357" y="500645"/>
                  <a:pt x="180699" y="452921"/>
                </a:cubicBezTo>
                <a:cubicBezTo>
                  <a:pt x="186329" y="416326"/>
                  <a:pt x="157420" y="362463"/>
                  <a:pt x="137011" y="324435"/>
                </a:cubicBezTo>
                <a:cubicBezTo>
                  <a:pt x="130803" y="312869"/>
                  <a:pt x="125383" y="302769"/>
                  <a:pt x="121958" y="295064"/>
                </a:cubicBezTo>
                <a:close/>
                <a:moveTo>
                  <a:pt x="1471269" y="697507"/>
                </a:moveTo>
                <a:cubicBezTo>
                  <a:pt x="1615221" y="697507"/>
                  <a:pt x="1731916" y="580811"/>
                  <a:pt x="1731916" y="436860"/>
                </a:cubicBezTo>
                <a:cubicBezTo>
                  <a:pt x="1731916" y="292908"/>
                  <a:pt x="1615221" y="176212"/>
                  <a:pt x="1471269" y="176212"/>
                </a:cubicBezTo>
                <a:cubicBezTo>
                  <a:pt x="1327317" y="176212"/>
                  <a:pt x="1210621" y="292908"/>
                  <a:pt x="1210621" y="436860"/>
                </a:cubicBezTo>
                <a:cubicBezTo>
                  <a:pt x="1210621" y="580811"/>
                  <a:pt x="1327317" y="697507"/>
                  <a:pt x="1471269" y="697507"/>
                </a:cubicBezTo>
                <a:close/>
              </a:path>
            </a:pathLst>
          </a:custGeom>
          <a:noFill/>
          <a:ln w="11015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32898" y="1851737"/>
            <a:ext cx="1664388" cy="779354"/>
          </a:xfrm>
          <a:custGeom>
            <a:avLst/>
            <a:gdLst/>
            <a:ahLst/>
            <a:cxnLst/>
            <a:rect l="0" t="0" r="0" b="0"/>
            <a:pathLst>
              <a:path w="1664388" h="779354">
                <a:moveTo>
                  <a:pt x="342795" y="233724"/>
                </a:moveTo>
                <a:cubicBezTo>
                  <a:pt x="624735" y="1714"/>
                  <a:pt x="1079468" y="0"/>
                  <a:pt x="1271587" y="28146"/>
                </a:cubicBezTo>
                <a:lnTo>
                  <a:pt x="1307572" y="31937"/>
                </a:lnTo>
                <a:cubicBezTo>
                  <a:pt x="1323355" y="29451"/>
                  <a:pt x="1339538" y="28155"/>
                  <a:pt x="1356017" y="28155"/>
                </a:cubicBezTo>
                <a:cubicBezTo>
                  <a:pt x="1526324" y="28155"/>
                  <a:pt x="1664388" y="166220"/>
                  <a:pt x="1664388" y="336527"/>
                </a:cubicBezTo>
                <a:cubicBezTo>
                  <a:pt x="1664388" y="488041"/>
                  <a:pt x="1555118" y="614029"/>
                  <a:pt x="1411081" y="639994"/>
                </a:cubicBezTo>
                <a:lnTo>
                  <a:pt x="1411081" y="779354"/>
                </a:lnTo>
                <a:lnTo>
                  <a:pt x="0" y="779354"/>
                </a:lnTo>
                <a:cubicBezTo>
                  <a:pt x="21774" y="648281"/>
                  <a:pt x="108308" y="426700"/>
                  <a:pt x="342795" y="233724"/>
                </a:cubicBezTo>
                <a:moveTo>
                  <a:pt x="1354369" y="595798"/>
                </a:moveTo>
                <a:cubicBezTo>
                  <a:pt x="1498320" y="595798"/>
                  <a:pt x="1615020" y="479097"/>
                  <a:pt x="1615020" y="335146"/>
                </a:cubicBezTo>
                <a:cubicBezTo>
                  <a:pt x="1615020" y="191195"/>
                  <a:pt x="1498320" y="74504"/>
                  <a:pt x="1354369" y="74504"/>
                </a:cubicBezTo>
                <a:cubicBezTo>
                  <a:pt x="1210417" y="74504"/>
                  <a:pt x="1093717" y="191195"/>
                  <a:pt x="1093717" y="335146"/>
                </a:cubicBezTo>
                <a:cubicBezTo>
                  <a:pt x="1093717" y="479097"/>
                  <a:pt x="1210417" y="595798"/>
                  <a:pt x="1354369" y="595798"/>
                </a:cubicBezTo>
              </a:path>
            </a:pathLst>
          </a:custGeom>
          <a:solidFill>
            <a:srgbClr val="1EABDA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32898" y="1851739"/>
            <a:ext cx="1664390" cy="779349"/>
          </a:xfrm>
          <a:custGeom>
            <a:avLst/>
            <a:gdLst/>
            <a:ahLst/>
            <a:cxnLst/>
            <a:rect l="0" t="0" r="0" b="0"/>
            <a:pathLst>
              <a:path w="1664390" h="779349">
                <a:moveTo>
                  <a:pt x="342797" y="233726"/>
                </a:moveTo>
                <a:cubicBezTo>
                  <a:pt x="624737" y="1712"/>
                  <a:pt x="1079464" y="0"/>
                  <a:pt x="1271584" y="28144"/>
                </a:cubicBezTo>
                <a:lnTo>
                  <a:pt x="1307574" y="31935"/>
                </a:lnTo>
                <a:cubicBezTo>
                  <a:pt x="1323356" y="29445"/>
                  <a:pt x="1339535" y="28152"/>
                  <a:pt x="1356018" y="28152"/>
                </a:cubicBezTo>
                <a:cubicBezTo>
                  <a:pt x="1526327" y="28152"/>
                  <a:pt x="1664390" y="166214"/>
                  <a:pt x="1664390" y="336524"/>
                </a:cubicBezTo>
                <a:cubicBezTo>
                  <a:pt x="1664390" y="488037"/>
                  <a:pt x="1555119" y="614029"/>
                  <a:pt x="1411084" y="639993"/>
                </a:cubicBezTo>
                <a:lnTo>
                  <a:pt x="1411084" y="779349"/>
                </a:lnTo>
                <a:lnTo>
                  <a:pt x="0" y="779349"/>
                </a:lnTo>
                <a:cubicBezTo>
                  <a:pt x="21776" y="648279"/>
                  <a:pt x="108303" y="426695"/>
                  <a:pt x="342797" y="233726"/>
                </a:cubicBezTo>
                <a:close/>
                <a:moveTo>
                  <a:pt x="1354368" y="595795"/>
                </a:moveTo>
                <a:cubicBezTo>
                  <a:pt x="1498320" y="595795"/>
                  <a:pt x="1615016" y="479099"/>
                  <a:pt x="1615016" y="335147"/>
                </a:cubicBezTo>
                <a:cubicBezTo>
                  <a:pt x="1615016" y="191195"/>
                  <a:pt x="1498320" y="74499"/>
                  <a:pt x="1354368" y="74499"/>
                </a:cubicBezTo>
                <a:cubicBezTo>
                  <a:pt x="1210416" y="74499"/>
                  <a:pt x="1093720" y="191195"/>
                  <a:pt x="1093720" y="335147"/>
                </a:cubicBezTo>
                <a:cubicBezTo>
                  <a:pt x="1093720" y="479099"/>
                  <a:pt x="1210416" y="595795"/>
                  <a:pt x="1354368" y="595795"/>
                </a:cubicBezTo>
                <a:close/>
              </a:path>
            </a:pathLst>
          </a:custGeom>
          <a:noFill/>
          <a:ln w="11015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81104" y="477248"/>
            <a:ext cx="3981792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 dirty="0">
                <a:solidFill>
                  <a:srgbClr val="484848"/>
                </a:solidFill>
                <a:latin typeface="Roboto"/>
              </a:rPr>
              <a:t>MIS Dashboard Suites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2632" y="1105898"/>
            <a:ext cx="64987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0" dirty="0">
                <a:solidFill>
                  <a:srgbClr val="484848"/>
                </a:solidFill>
                <a:latin typeface="Roboto"/>
              </a:rPr>
              <a:t>Custom-built intelligence platforms for Senior Management decision-making.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2068" y="2021687"/>
            <a:ext cx="337740" cy="337740"/>
          </a:xfrm>
          <a:custGeom>
            <a:avLst/>
            <a:gdLst/>
            <a:ahLst/>
            <a:cxnLst/>
            <a:rect l="0" t="0" r="0" b="0"/>
            <a:pathLst>
              <a:path w="337740" h="337740">
                <a:moveTo>
                  <a:pt x="190896" y="95448"/>
                </a:moveTo>
                <a:cubicBezTo>
                  <a:pt x="190896" y="123833"/>
                  <a:pt x="213907" y="146843"/>
                  <a:pt x="242292" y="146843"/>
                </a:cubicBezTo>
                <a:cubicBezTo>
                  <a:pt x="270677" y="146843"/>
                  <a:pt x="293687" y="123833"/>
                  <a:pt x="293687" y="95448"/>
                </a:cubicBezTo>
                <a:cubicBezTo>
                  <a:pt x="293687" y="67063"/>
                  <a:pt x="270677" y="44053"/>
                  <a:pt x="242292" y="44053"/>
                </a:cubicBezTo>
                <a:cubicBezTo>
                  <a:pt x="213907" y="44053"/>
                  <a:pt x="190896" y="67063"/>
                  <a:pt x="190896" y="95448"/>
                </a:cubicBezTo>
                <a:moveTo>
                  <a:pt x="44053" y="293687"/>
                </a:moveTo>
                <a:lnTo>
                  <a:pt x="76358" y="248415"/>
                </a:lnTo>
                <a:cubicBezTo>
                  <a:pt x="77506" y="246809"/>
                  <a:pt x="79252" y="245732"/>
                  <a:pt x="81202" y="245428"/>
                </a:cubicBezTo>
                <a:cubicBezTo>
                  <a:pt x="83153" y="245124"/>
                  <a:pt x="85144" y="245619"/>
                  <a:pt x="86725" y="246800"/>
                </a:cubicBezTo>
                <a:lnTo>
                  <a:pt x="104259" y="259913"/>
                </a:lnTo>
                <a:cubicBezTo>
                  <a:pt x="107503" y="262346"/>
                  <a:pt x="112105" y="261688"/>
                  <a:pt x="114538" y="258445"/>
                </a:cubicBezTo>
                <a:lnTo>
                  <a:pt x="154185" y="205581"/>
                </a:lnTo>
                <a:moveTo>
                  <a:pt x="293305" y="89207"/>
                </a:moveTo>
                <a:lnTo>
                  <a:pt x="242292" y="95448"/>
                </a:lnTo>
                <a:lnTo>
                  <a:pt x="253320" y="45242"/>
                </a:lnTo>
                <a:moveTo>
                  <a:pt x="212923" y="190896"/>
                </a:moveTo>
                <a:cubicBezTo>
                  <a:pt x="205581" y="190896"/>
                  <a:pt x="205581" y="198239"/>
                  <a:pt x="205581" y="198239"/>
                </a:cubicBezTo>
                <a:lnTo>
                  <a:pt x="205581" y="286345"/>
                </a:lnTo>
                <a:cubicBezTo>
                  <a:pt x="205581" y="293687"/>
                  <a:pt x="212923" y="293687"/>
                  <a:pt x="212923" y="293687"/>
                </a:cubicBezTo>
                <a:lnTo>
                  <a:pt x="286345" y="293687"/>
                </a:lnTo>
                <a:cubicBezTo>
                  <a:pt x="293687" y="293687"/>
                  <a:pt x="293687" y="286345"/>
                  <a:pt x="293687" y="286345"/>
                </a:cubicBezTo>
                <a:lnTo>
                  <a:pt x="293687" y="198239"/>
                </a:lnTo>
                <a:cubicBezTo>
                  <a:pt x="293687" y="190896"/>
                  <a:pt x="286345" y="190896"/>
                  <a:pt x="286345" y="190896"/>
                </a:cubicBezTo>
                <a:lnTo>
                  <a:pt x="212923" y="190896"/>
                </a:lnTo>
                <a:moveTo>
                  <a:pt x="234950" y="234950"/>
                </a:moveTo>
                <a:lnTo>
                  <a:pt x="264318" y="234950"/>
                </a:lnTo>
                <a:moveTo>
                  <a:pt x="234950" y="264318"/>
                </a:moveTo>
                <a:lnTo>
                  <a:pt x="249634" y="264318"/>
                </a:lnTo>
                <a:moveTo>
                  <a:pt x="51395" y="44053"/>
                </a:moveTo>
                <a:cubicBezTo>
                  <a:pt x="44053" y="44053"/>
                  <a:pt x="44053" y="51395"/>
                  <a:pt x="44053" y="51395"/>
                </a:cubicBezTo>
                <a:lnTo>
                  <a:pt x="44053" y="139501"/>
                </a:lnTo>
                <a:cubicBezTo>
                  <a:pt x="44053" y="146843"/>
                  <a:pt x="51395" y="146843"/>
                  <a:pt x="51395" y="146843"/>
                </a:cubicBezTo>
                <a:lnTo>
                  <a:pt x="124817" y="146843"/>
                </a:lnTo>
                <a:cubicBezTo>
                  <a:pt x="132159" y="146843"/>
                  <a:pt x="132159" y="139501"/>
                  <a:pt x="132159" y="139501"/>
                </a:cubicBezTo>
                <a:lnTo>
                  <a:pt x="132159" y="51395"/>
                </a:lnTo>
                <a:cubicBezTo>
                  <a:pt x="132159" y="44053"/>
                  <a:pt x="124817" y="44053"/>
                  <a:pt x="124817" y="44053"/>
                </a:cubicBezTo>
                <a:lnTo>
                  <a:pt x="51395" y="44053"/>
                </a:lnTo>
                <a:moveTo>
                  <a:pt x="73421" y="73421"/>
                </a:moveTo>
                <a:lnTo>
                  <a:pt x="102790" y="73421"/>
                </a:lnTo>
                <a:moveTo>
                  <a:pt x="73421" y="102790"/>
                </a:moveTo>
                <a:lnTo>
                  <a:pt x="88106" y="102790"/>
                </a:lnTo>
                <a:moveTo>
                  <a:pt x="14684" y="0"/>
                </a:moveTo>
                <a:lnTo>
                  <a:pt x="323056" y="0"/>
                </a:lnTo>
                <a:cubicBezTo>
                  <a:pt x="323056" y="0"/>
                  <a:pt x="337740" y="0"/>
                  <a:pt x="337740" y="14684"/>
                </a:cubicBezTo>
                <a:lnTo>
                  <a:pt x="337740" y="323056"/>
                </a:lnTo>
                <a:cubicBezTo>
                  <a:pt x="337740" y="323056"/>
                  <a:pt x="337740" y="337740"/>
                  <a:pt x="323056" y="337740"/>
                </a:cubicBezTo>
                <a:lnTo>
                  <a:pt x="14684" y="337740"/>
                </a:lnTo>
                <a:cubicBezTo>
                  <a:pt x="14684" y="337740"/>
                  <a:pt x="0" y="337740"/>
                  <a:pt x="0" y="323056"/>
                </a:cubicBezTo>
                <a:lnTo>
                  <a:pt x="0" y="14684"/>
                </a:lnTo>
                <a:cubicBezTo>
                  <a:pt x="0" y="14684"/>
                  <a:pt x="0" y="0"/>
                  <a:pt x="14684" y="0"/>
                </a:cubicBezTo>
              </a:path>
            </a:pathLst>
          </a:custGeom>
          <a:noFill/>
          <a:ln w="11015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50519" y="1992318"/>
            <a:ext cx="245692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1EABDA"/>
                </a:solidFill>
                <a:latin typeface="Roboto"/>
              </a:rPr>
              <a:t>Loan Portfolio Intelligence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0519" y="2256632"/>
            <a:ext cx="2493692" cy="132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dirty="0">
                <a:solidFill>
                  <a:srgbClr val="484848"/>
                </a:solidFill>
                <a:latin typeface="Roboto"/>
              </a:rPr>
              <a:t>Provides executive</a:t>
            </a:r>
            <a:r>
              <a:rPr lang="en-US" sz="800" b="0" dirty="0">
                <a:solidFill>
                  <a:srgbClr val="484848"/>
                </a:solidFill>
                <a:latin typeface="Roboto"/>
              </a:rPr>
              <a:t> grade</a:t>
            </a:r>
            <a:r>
              <a:rPr sz="800" b="0" dirty="0">
                <a:solidFill>
                  <a:srgbClr val="484848"/>
                </a:solidFill>
                <a:latin typeface="Roboto"/>
              </a:rPr>
              <a:t> summar</a:t>
            </a:r>
            <a:r>
              <a:rPr lang="en-US" sz="800" dirty="0">
                <a:solidFill>
                  <a:srgbClr val="484848"/>
                </a:solidFill>
                <a:latin typeface="Roboto"/>
              </a:rPr>
              <a:t>y</a:t>
            </a:r>
            <a:r>
              <a:rPr sz="800" b="0" dirty="0">
                <a:solidFill>
                  <a:srgbClr val="484848"/>
                </a:solidFill>
                <a:latin typeface="Roboto"/>
              </a:rPr>
              <a:t> and portfolio trends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4726" y="2895407"/>
            <a:ext cx="341411" cy="341411"/>
          </a:xfrm>
          <a:custGeom>
            <a:avLst/>
            <a:gdLst/>
            <a:ahLst/>
            <a:cxnLst/>
            <a:rect l="0" t="0" r="0" b="0"/>
            <a:pathLst>
              <a:path w="341411" h="341411">
                <a:moveTo>
                  <a:pt x="125551" y="110867"/>
                </a:moveTo>
                <a:cubicBezTo>
                  <a:pt x="188808" y="110867"/>
                  <a:pt x="240089" y="88514"/>
                  <a:pt x="240089" y="60940"/>
                </a:cubicBezTo>
                <a:cubicBezTo>
                  <a:pt x="240089" y="33366"/>
                  <a:pt x="188808" y="11013"/>
                  <a:pt x="125551" y="11013"/>
                </a:cubicBezTo>
                <a:cubicBezTo>
                  <a:pt x="62293" y="11013"/>
                  <a:pt x="11013" y="33366"/>
                  <a:pt x="11013" y="60940"/>
                </a:cubicBezTo>
                <a:cubicBezTo>
                  <a:pt x="11013" y="88514"/>
                  <a:pt x="62293" y="110867"/>
                  <a:pt x="125551" y="110867"/>
                </a:cubicBezTo>
                <a:close/>
                <a:moveTo>
                  <a:pt x="240089" y="124083"/>
                </a:moveTo>
                <a:lnTo>
                  <a:pt x="240089" y="60940"/>
                </a:lnTo>
                <a:moveTo>
                  <a:pt x="11013" y="60940"/>
                </a:moveTo>
                <a:lnTo>
                  <a:pt x="11013" y="137299"/>
                </a:lnTo>
                <a:cubicBezTo>
                  <a:pt x="11013" y="165199"/>
                  <a:pt x="62408" y="187225"/>
                  <a:pt x="125551" y="187225"/>
                </a:cubicBezTo>
                <a:moveTo>
                  <a:pt x="11013" y="135830"/>
                </a:moveTo>
                <a:lnTo>
                  <a:pt x="11013" y="212189"/>
                </a:lnTo>
                <a:cubicBezTo>
                  <a:pt x="11013" y="240089"/>
                  <a:pt x="62408" y="262116"/>
                  <a:pt x="125551" y="262116"/>
                </a:cubicBezTo>
                <a:lnTo>
                  <a:pt x="140235" y="262116"/>
                </a:lnTo>
                <a:moveTo>
                  <a:pt x="187225" y="184288"/>
                </a:moveTo>
                <a:lnTo>
                  <a:pt x="187225" y="341411"/>
                </a:lnTo>
                <a:lnTo>
                  <a:pt x="341411" y="341411"/>
                </a:lnTo>
                <a:moveTo>
                  <a:pt x="0" y="0"/>
                </a:moveTo>
                <a:moveTo>
                  <a:pt x="187130" y="319482"/>
                </a:moveTo>
                <a:lnTo>
                  <a:pt x="245964" y="260647"/>
                </a:lnTo>
                <a:lnTo>
                  <a:pt x="282675" y="297358"/>
                </a:lnTo>
                <a:lnTo>
                  <a:pt x="341307" y="238726"/>
                </a:lnTo>
                <a:moveTo>
                  <a:pt x="341411" y="275332"/>
                </a:moveTo>
                <a:lnTo>
                  <a:pt x="341411" y="238621"/>
                </a:lnTo>
                <a:lnTo>
                  <a:pt x="304700" y="238621"/>
                </a:lnTo>
                <a:moveTo>
                  <a:pt x="0" y="0"/>
                </a:moveTo>
                <a:moveTo>
                  <a:pt x="267991" y="216594"/>
                </a:moveTo>
                <a:lnTo>
                  <a:pt x="241559" y="191631"/>
                </a:lnTo>
                <a:lnTo>
                  <a:pt x="187236" y="245955"/>
                </a:lnTo>
              </a:path>
            </a:pathLst>
          </a:custGeom>
          <a:noFill/>
          <a:ln w="11015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50519" y="2807268"/>
            <a:ext cx="26327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3CC583"/>
                </a:solidFill>
                <a:latin typeface="Roboto"/>
              </a:rPr>
              <a:t>Deposit Portfolio Intelligence Dashboard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150519" y="3071591"/>
            <a:ext cx="2512647" cy="264385"/>
            <a:chOff x="4150518" y="2965818"/>
            <a:chExt cx="2512647" cy="264385"/>
          </a:xfrm>
        </p:grpSpPr>
        <p:sp>
          <p:nvSpPr>
            <p:cNvPr id="15" name="TextBox 14"/>
            <p:cNvSpPr txBox="1"/>
            <p:nvPr/>
          </p:nvSpPr>
          <p:spPr>
            <a:xfrm>
              <a:off x="4150518" y="2965818"/>
              <a:ext cx="2512647" cy="132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 dirty="0">
                  <a:solidFill>
                    <a:srgbClr val="484848"/>
                  </a:solidFill>
                  <a:latin typeface="Roboto"/>
                </a:rPr>
                <a:t>Tracks liability team performance </a:t>
              </a:r>
              <a:r>
                <a:rPr lang="en-US" sz="800" b="0" dirty="0">
                  <a:solidFill>
                    <a:srgbClr val="484848"/>
                  </a:solidFill>
                  <a:latin typeface="Roboto"/>
                </a:rPr>
                <a:t>new fund </a:t>
              </a:r>
              <a:r>
                <a:rPr sz="800" b="0" dirty="0">
                  <a:solidFill>
                    <a:srgbClr val="484848"/>
                  </a:solidFill>
                  <a:latin typeface="Roboto"/>
                </a:rPr>
                <a:t>and encashment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50518" y="3098025"/>
              <a:ext cx="2512647" cy="132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484848"/>
                  </a:solidFill>
                  <a:latin typeface="Roboto"/>
                </a:rPr>
                <a:t>analysis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3514726" y="3776469"/>
            <a:ext cx="326727" cy="341402"/>
          </a:xfrm>
          <a:custGeom>
            <a:avLst/>
            <a:gdLst/>
            <a:ahLst/>
            <a:cxnLst/>
            <a:rect l="0" t="0" r="0" b="0"/>
            <a:pathLst>
              <a:path w="326727" h="341402">
                <a:moveTo>
                  <a:pt x="0" y="0"/>
                </a:moveTo>
                <a:moveTo>
                  <a:pt x="213656" y="71219"/>
                </a:moveTo>
                <a:lnTo>
                  <a:pt x="176945" y="91777"/>
                </a:lnTo>
                <a:lnTo>
                  <a:pt x="140234" y="71219"/>
                </a:lnTo>
                <a:lnTo>
                  <a:pt x="140234" y="31571"/>
                </a:lnTo>
                <a:lnTo>
                  <a:pt x="176945" y="11013"/>
                </a:lnTo>
                <a:lnTo>
                  <a:pt x="213656" y="31571"/>
                </a:lnTo>
                <a:close/>
                <a:moveTo>
                  <a:pt x="176945" y="91777"/>
                </a:moveTo>
                <a:lnTo>
                  <a:pt x="176945" y="147567"/>
                </a:lnTo>
                <a:moveTo>
                  <a:pt x="172833" y="89482"/>
                </a:moveTo>
                <a:lnTo>
                  <a:pt x="66812" y="147576"/>
                </a:lnTo>
                <a:moveTo>
                  <a:pt x="180415" y="89791"/>
                </a:moveTo>
                <a:lnTo>
                  <a:pt x="287079" y="147567"/>
                </a:lnTo>
                <a:moveTo>
                  <a:pt x="0" y="0"/>
                </a:moveTo>
                <a:moveTo>
                  <a:pt x="287078" y="147575"/>
                </a:moveTo>
                <a:lnTo>
                  <a:pt x="176945" y="209249"/>
                </a:lnTo>
                <a:lnTo>
                  <a:pt x="66812" y="147575"/>
                </a:lnTo>
                <a:moveTo>
                  <a:pt x="0" y="0"/>
                </a:moveTo>
                <a:moveTo>
                  <a:pt x="132669" y="184415"/>
                </a:moveTo>
                <a:lnTo>
                  <a:pt x="66813" y="221001"/>
                </a:lnTo>
                <a:moveTo>
                  <a:pt x="0" y="0"/>
                </a:moveTo>
                <a:moveTo>
                  <a:pt x="221233" y="184415"/>
                </a:moveTo>
                <a:lnTo>
                  <a:pt x="287079" y="220996"/>
                </a:lnTo>
                <a:moveTo>
                  <a:pt x="0" y="0"/>
                </a:moveTo>
                <a:moveTo>
                  <a:pt x="287079" y="220996"/>
                </a:moveTo>
                <a:lnTo>
                  <a:pt x="176946" y="282671"/>
                </a:lnTo>
                <a:lnTo>
                  <a:pt x="66813" y="220996"/>
                </a:lnTo>
                <a:moveTo>
                  <a:pt x="0" y="0"/>
                </a:moveTo>
                <a:moveTo>
                  <a:pt x="176945" y="282674"/>
                </a:moveTo>
                <a:lnTo>
                  <a:pt x="176945" y="341402"/>
                </a:lnTo>
                <a:moveTo>
                  <a:pt x="0" y="0"/>
                </a:moveTo>
                <a:moveTo>
                  <a:pt x="176945" y="209252"/>
                </a:moveTo>
                <a:lnTo>
                  <a:pt x="176945" y="234204"/>
                </a:lnTo>
                <a:moveTo>
                  <a:pt x="0" y="0"/>
                </a:moveTo>
                <a:moveTo>
                  <a:pt x="219531" y="317904"/>
                </a:moveTo>
                <a:lnTo>
                  <a:pt x="326727" y="257699"/>
                </a:lnTo>
                <a:lnTo>
                  <a:pt x="326727" y="204835"/>
                </a:lnTo>
                <a:moveTo>
                  <a:pt x="25697" y="204835"/>
                </a:moveTo>
                <a:lnTo>
                  <a:pt x="25697" y="257699"/>
                </a:lnTo>
                <a:lnTo>
                  <a:pt x="132893" y="317904"/>
                </a:lnTo>
                <a:moveTo>
                  <a:pt x="0" y="0"/>
                </a:moveTo>
                <a:moveTo>
                  <a:pt x="94714" y="56529"/>
                </a:moveTo>
                <a:lnTo>
                  <a:pt x="25697" y="94708"/>
                </a:lnTo>
                <a:lnTo>
                  <a:pt x="25697" y="146103"/>
                </a:lnTo>
                <a:moveTo>
                  <a:pt x="326725" y="146109"/>
                </a:moveTo>
                <a:lnTo>
                  <a:pt x="326725" y="94714"/>
                </a:lnTo>
                <a:lnTo>
                  <a:pt x="257709" y="55066"/>
                </a:lnTo>
              </a:path>
            </a:pathLst>
          </a:custGeom>
          <a:noFill/>
          <a:ln w="11015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50519" y="3688331"/>
            <a:ext cx="7180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92BD39"/>
                </a:solidFill>
                <a:latin typeface="Roboto"/>
              </a:rPr>
              <a:t>Tech Stack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4150519" y="3952653"/>
            <a:ext cx="2632662" cy="264385"/>
            <a:chOff x="4150518" y="3846880"/>
            <a:chExt cx="2632662" cy="264385"/>
          </a:xfrm>
        </p:grpSpPr>
        <p:sp>
          <p:nvSpPr>
            <p:cNvPr id="20" name="TextBox 19"/>
            <p:cNvSpPr txBox="1"/>
            <p:nvPr/>
          </p:nvSpPr>
          <p:spPr>
            <a:xfrm>
              <a:off x="4150518" y="3846880"/>
              <a:ext cx="2632662" cy="132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484848"/>
                  </a:solidFill>
                  <a:latin typeface="Roboto"/>
                </a:rPr>
                <a:t>Includes PHP, Chart.js, SheetJS, JavaScript, Power BI,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150518" y="3979087"/>
              <a:ext cx="2632662" cy="132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484848"/>
                  </a:solidFill>
                  <a:latin typeface="Roboto"/>
                </a:rPr>
                <a:t>and Advanced Excel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Click="0">
        <p15:prstTrans prst="curtains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972101" y="1305491"/>
            <a:ext cx="2139495" cy="3195713"/>
          </a:xfrm>
          <a:custGeom>
            <a:avLst/>
            <a:gdLst/>
            <a:ahLst/>
            <a:cxnLst/>
            <a:rect l="0" t="0" r="0" b="0"/>
            <a:pathLst>
              <a:path w="2139495" h="3195713">
                <a:moveTo>
                  <a:pt x="0" y="324993"/>
                </a:moveTo>
                <a:lnTo>
                  <a:pt x="1218704" y="0"/>
                </a:lnTo>
                <a:lnTo>
                  <a:pt x="2139495" y="0"/>
                </a:lnTo>
                <a:lnTo>
                  <a:pt x="1733264" y="324993"/>
                </a:lnTo>
                <a:lnTo>
                  <a:pt x="1733264" y="2870720"/>
                </a:lnTo>
                <a:lnTo>
                  <a:pt x="866632" y="3195713"/>
                </a:lnTo>
                <a:lnTo>
                  <a:pt x="0" y="2870720"/>
                </a:lnTo>
                <a:lnTo>
                  <a:pt x="0" y="433320"/>
                </a:lnTo>
                <a:cubicBezTo>
                  <a:pt x="0" y="373484"/>
                  <a:pt x="0" y="324993"/>
                  <a:pt x="0" y="324993"/>
                </a:cubicBezTo>
              </a:path>
            </a:pathLst>
          </a:custGeom>
          <a:solidFill>
            <a:srgbClr val="4E88E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972101" y="1305492"/>
            <a:ext cx="2139499" cy="3195708"/>
          </a:xfrm>
          <a:custGeom>
            <a:avLst/>
            <a:gdLst/>
            <a:ahLst/>
            <a:cxnLst/>
            <a:rect l="0" t="0" r="0" b="0"/>
            <a:pathLst>
              <a:path w="2139499" h="3195708">
                <a:moveTo>
                  <a:pt x="1733265" y="433316"/>
                </a:moveTo>
                <a:lnTo>
                  <a:pt x="1733265" y="324987"/>
                </a:lnTo>
                <a:lnTo>
                  <a:pt x="0" y="324987"/>
                </a:lnTo>
                <a:lnTo>
                  <a:pt x="0" y="433316"/>
                </a:lnTo>
                <a:moveTo>
                  <a:pt x="1733265" y="324987"/>
                </a:moveTo>
                <a:lnTo>
                  <a:pt x="2139499" y="0"/>
                </a:lnTo>
                <a:lnTo>
                  <a:pt x="1218702" y="0"/>
                </a:lnTo>
                <a:lnTo>
                  <a:pt x="0" y="324987"/>
                </a:lnTo>
                <a:moveTo>
                  <a:pt x="1733265" y="2762388"/>
                </a:moveTo>
                <a:lnTo>
                  <a:pt x="1733265" y="433316"/>
                </a:lnTo>
                <a:moveTo>
                  <a:pt x="0" y="2762388"/>
                </a:moveTo>
                <a:lnTo>
                  <a:pt x="0" y="433316"/>
                </a:lnTo>
                <a:moveTo>
                  <a:pt x="1733265" y="2762392"/>
                </a:moveTo>
                <a:lnTo>
                  <a:pt x="1733265" y="2870721"/>
                </a:lnTo>
                <a:lnTo>
                  <a:pt x="866632" y="3195708"/>
                </a:lnTo>
                <a:lnTo>
                  <a:pt x="0" y="2870721"/>
                </a:lnTo>
                <a:lnTo>
                  <a:pt x="0" y="2762392"/>
                </a:lnTo>
              </a:path>
            </a:pathLst>
          </a:custGeom>
          <a:noFill/>
          <a:ln w="13544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705367" y="1305492"/>
            <a:ext cx="1733264" cy="3412369"/>
          </a:xfrm>
          <a:custGeom>
            <a:avLst/>
            <a:gdLst/>
            <a:ahLst/>
            <a:cxnLst/>
            <a:rect l="0" t="0" r="0" b="0"/>
            <a:pathLst>
              <a:path w="1733264" h="3412369">
                <a:moveTo>
                  <a:pt x="0" y="324983"/>
                </a:moveTo>
                <a:lnTo>
                  <a:pt x="406231" y="0"/>
                </a:lnTo>
                <a:lnTo>
                  <a:pt x="1327032" y="0"/>
                </a:lnTo>
                <a:lnTo>
                  <a:pt x="1733264" y="324983"/>
                </a:lnTo>
                <a:lnTo>
                  <a:pt x="1733264" y="3087376"/>
                </a:lnTo>
                <a:lnTo>
                  <a:pt x="866632" y="3412369"/>
                </a:lnTo>
                <a:lnTo>
                  <a:pt x="0" y="3087376"/>
                </a:lnTo>
                <a:lnTo>
                  <a:pt x="0" y="433320"/>
                </a:lnTo>
                <a:cubicBezTo>
                  <a:pt x="0" y="373484"/>
                  <a:pt x="0" y="324983"/>
                  <a:pt x="0" y="324983"/>
                </a:cubicBezTo>
              </a:path>
            </a:pathLst>
          </a:custGeom>
          <a:solidFill>
            <a:srgbClr val="BA5DE5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705367" y="1305492"/>
            <a:ext cx="1733265" cy="3412366"/>
          </a:xfrm>
          <a:custGeom>
            <a:avLst/>
            <a:gdLst/>
            <a:ahLst/>
            <a:cxnLst/>
            <a:rect l="0" t="0" r="0" b="0"/>
            <a:pathLst>
              <a:path w="1733265" h="3412366">
                <a:moveTo>
                  <a:pt x="1733265" y="433316"/>
                </a:moveTo>
                <a:lnTo>
                  <a:pt x="1733265" y="324987"/>
                </a:lnTo>
                <a:lnTo>
                  <a:pt x="0" y="324987"/>
                </a:lnTo>
                <a:lnTo>
                  <a:pt x="0" y="433316"/>
                </a:lnTo>
                <a:moveTo>
                  <a:pt x="1733265" y="324987"/>
                </a:moveTo>
                <a:lnTo>
                  <a:pt x="1327031" y="0"/>
                </a:lnTo>
                <a:lnTo>
                  <a:pt x="406234" y="0"/>
                </a:lnTo>
                <a:lnTo>
                  <a:pt x="0" y="324987"/>
                </a:lnTo>
                <a:moveTo>
                  <a:pt x="1733265" y="2762388"/>
                </a:moveTo>
                <a:lnTo>
                  <a:pt x="1733265" y="433316"/>
                </a:lnTo>
                <a:moveTo>
                  <a:pt x="0" y="2762388"/>
                </a:moveTo>
                <a:lnTo>
                  <a:pt x="0" y="433316"/>
                </a:lnTo>
                <a:moveTo>
                  <a:pt x="1733265" y="2762392"/>
                </a:moveTo>
                <a:lnTo>
                  <a:pt x="1733265" y="3087379"/>
                </a:lnTo>
                <a:lnTo>
                  <a:pt x="866632" y="3412366"/>
                </a:lnTo>
                <a:lnTo>
                  <a:pt x="0" y="3087379"/>
                </a:lnTo>
                <a:lnTo>
                  <a:pt x="0" y="2762392"/>
                </a:lnTo>
              </a:path>
            </a:pathLst>
          </a:custGeom>
          <a:noFill/>
          <a:ln w="13544">
            <a:solidFill>
              <a:srgbClr val="BA5DE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32399" y="1305491"/>
            <a:ext cx="2139495" cy="3189103"/>
          </a:xfrm>
          <a:custGeom>
            <a:avLst/>
            <a:gdLst/>
            <a:ahLst/>
            <a:cxnLst/>
            <a:rect l="0" t="0" r="0" b="0"/>
            <a:pathLst>
              <a:path w="2139495" h="3189103">
                <a:moveTo>
                  <a:pt x="406231" y="324993"/>
                </a:moveTo>
                <a:lnTo>
                  <a:pt x="0" y="0"/>
                </a:lnTo>
                <a:lnTo>
                  <a:pt x="920800" y="0"/>
                </a:lnTo>
                <a:lnTo>
                  <a:pt x="2139495" y="324993"/>
                </a:lnTo>
                <a:lnTo>
                  <a:pt x="2139495" y="2799292"/>
                </a:lnTo>
                <a:cubicBezTo>
                  <a:pt x="2139495" y="2842621"/>
                  <a:pt x="2113673" y="2881788"/>
                  <a:pt x="2073840" y="2898857"/>
                </a:cubicBezTo>
                <a:lnTo>
                  <a:pt x="1315535" y="3177425"/>
                </a:lnTo>
                <a:cubicBezTo>
                  <a:pt x="1288294" y="3189103"/>
                  <a:pt x="1257442" y="3189103"/>
                  <a:pt x="1230191" y="3177425"/>
                </a:cubicBezTo>
                <a:lnTo>
                  <a:pt x="471887" y="2898857"/>
                </a:lnTo>
                <a:cubicBezTo>
                  <a:pt x="432063" y="2881788"/>
                  <a:pt x="406231" y="2842621"/>
                  <a:pt x="406231" y="2799292"/>
                </a:cubicBezTo>
                <a:lnTo>
                  <a:pt x="406231" y="433320"/>
                </a:lnTo>
                <a:cubicBezTo>
                  <a:pt x="406231" y="373484"/>
                  <a:pt x="406231" y="324993"/>
                  <a:pt x="406231" y="324993"/>
                </a:cubicBezTo>
              </a:path>
            </a:pathLst>
          </a:custGeom>
          <a:solidFill>
            <a:srgbClr val="DE58A9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32399" y="1305492"/>
            <a:ext cx="2139499" cy="3195708"/>
          </a:xfrm>
          <a:custGeom>
            <a:avLst/>
            <a:gdLst/>
            <a:ahLst/>
            <a:cxnLst/>
            <a:rect l="0" t="0" r="0" b="0"/>
            <a:pathLst>
              <a:path w="2139499" h="3195708">
                <a:moveTo>
                  <a:pt x="2139499" y="433316"/>
                </a:moveTo>
                <a:lnTo>
                  <a:pt x="2139499" y="324987"/>
                </a:lnTo>
                <a:lnTo>
                  <a:pt x="406234" y="324987"/>
                </a:lnTo>
                <a:lnTo>
                  <a:pt x="406233" y="433316"/>
                </a:lnTo>
                <a:moveTo>
                  <a:pt x="2139499" y="324987"/>
                </a:moveTo>
                <a:lnTo>
                  <a:pt x="920796" y="0"/>
                </a:lnTo>
                <a:lnTo>
                  <a:pt x="0" y="0"/>
                </a:lnTo>
                <a:lnTo>
                  <a:pt x="406234" y="324987"/>
                </a:lnTo>
                <a:moveTo>
                  <a:pt x="2139499" y="2762388"/>
                </a:moveTo>
                <a:lnTo>
                  <a:pt x="2139499" y="433316"/>
                </a:lnTo>
                <a:moveTo>
                  <a:pt x="406233" y="2762388"/>
                </a:moveTo>
                <a:lnTo>
                  <a:pt x="406233" y="433316"/>
                </a:lnTo>
                <a:moveTo>
                  <a:pt x="2139499" y="2762392"/>
                </a:moveTo>
                <a:lnTo>
                  <a:pt x="2139499" y="2870721"/>
                </a:lnTo>
                <a:lnTo>
                  <a:pt x="1272866" y="3195708"/>
                </a:lnTo>
                <a:lnTo>
                  <a:pt x="406233" y="2870721"/>
                </a:lnTo>
                <a:lnTo>
                  <a:pt x="406233" y="2762392"/>
                </a:lnTo>
              </a:path>
            </a:pathLst>
          </a:custGeom>
          <a:noFill/>
          <a:ln w="13544">
            <a:solidFill>
              <a:srgbClr val="DE58A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00030" y="425638"/>
            <a:ext cx="4543948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 dirty="0">
                <a:solidFill>
                  <a:srgbClr val="484848"/>
                </a:solidFill>
                <a:latin typeface="Roboto"/>
              </a:rPr>
              <a:t>Three Pillars of Expertise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3709" y="1862928"/>
            <a:ext cx="507792" cy="510049"/>
          </a:xfrm>
          <a:custGeom>
            <a:avLst/>
            <a:gdLst/>
            <a:ahLst/>
            <a:cxnLst/>
            <a:rect l="0" t="0" r="0" b="0"/>
            <a:pathLst>
              <a:path w="507792" h="510049">
                <a:moveTo>
                  <a:pt x="487570" y="291134"/>
                </a:moveTo>
                <a:cubicBezTo>
                  <a:pt x="498805" y="288877"/>
                  <a:pt x="507792" y="279850"/>
                  <a:pt x="507792" y="268565"/>
                </a:cubicBezTo>
                <a:lnTo>
                  <a:pt x="507792" y="241483"/>
                </a:lnTo>
                <a:cubicBezTo>
                  <a:pt x="507792" y="230199"/>
                  <a:pt x="498805" y="221171"/>
                  <a:pt x="487570" y="218914"/>
                </a:cubicBezTo>
                <a:lnTo>
                  <a:pt x="456114" y="214401"/>
                </a:lnTo>
                <a:cubicBezTo>
                  <a:pt x="447128" y="212144"/>
                  <a:pt x="440386" y="207631"/>
                  <a:pt x="438139" y="198603"/>
                </a:cubicBezTo>
                <a:lnTo>
                  <a:pt x="424658" y="164751"/>
                </a:lnTo>
                <a:cubicBezTo>
                  <a:pt x="420165" y="157980"/>
                  <a:pt x="422411" y="146695"/>
                  <a:pt x="426904" y="139925"/>
                </a:cubicBezTo>
                <a:lnTo>
                  <a:pt x="447125" y="112842"/>
                </a:lnTo>
                <a:cubicBezTo>
                  <a:pt x="453867" y="103815"/>
                  <a:pt x="453867" y="90274"/>
                  <a:pt x="444880" y="83503"/>
                </a:cubicBezTo>
                <a:lnTo>
                  <a:pt x="424658" y="63192"/>
                </a:lnTo>
                <a:cubicBezTo>
                  <a:pt x="415669" y="54165"/>
                  <a:pt x="404437" y="54164"/>
                  <a:pt x="395448" y="60935"/>
                </a:cubicBezTo>
                <a:lnTo>
                  <a:pt x="368485" y="81246"/>
                </a:lnTo>
                <a:cubicBezTo>
                  <a:pt x="361746" y="85760"/>
                  <a:pt x="352759" y="88017"/>
                  <a:pt x="343770" y="83503"/>
                </a:cubicBezTo>
                <a:cubicBezTo>
                  <a:pt x="332536" y="78990"/>
                  <a:pt x="321303" y="74476"/>
                  <a:pt x="310069" y="69962"/>
                </a:cubicBezTo>
                <a:cubicBezTo>
                  <a:pt x="301080" y="67705"/>
                  <a:pt x="296586" y="60935"/>
                  <a:pt x="294341" y="51908"/>
                </a:cubicBezTo>
                <a:lnTo>
                  <a:pt x="289845" y="20311"/>
                </a:lnTo>
                <a:cubicBezTo>
                  <a:pt x="287599" y="9027"/>
                  <a:pt x="278610" y="0"/>
                  <a:pt x="267376" y="0"/>
                </a:cubicBezTo>
                <a:lnTo>
                  <a:pt x="240415" y="0"/>
                </a:lnTo>
                <a:cubicBezTo>
                  <a:pt x="229181" y="0"/>
                  <a:pt x="220194" y="9027"/>
                  <a:pt x="217946" y="20311"/>
                </a:cubicBezTo>
                <a:lnTo>
                  <a:pt x="213453" y="51908"/>
                </a:lnTo>
                <a:cubicBezTo>
                  <a:pt x="211205" y="60935"/>
                  <a:pt x="206712" y="67705"/>
                  <a:pt x="197724" y="69962"/>
                </a:cubicBezTo>
                <a:cubicBezTo>
                  <a:pt x="186490" y="74476"/>
                  <a:pt x="175256" y="78990"/>
                  <a:pt x="164021" y="83503"/>
                </a:cubicBezTo>
                <a:cubicBezTo>
                  <a:pt x="157281" y="88017"/>
                  <a:pt x="146046" y="85760"/>
                  <a:pt x="139306" y="81246"/>
                </a:cubicBezTo>
                <a:lnTo>
                  <a:pt x="112343" y="60935"/>
                </a:lnTo>
                <a:cubicBezTo>
                  <a:pt x="103356" y="54164"/>
                  <a:pt x="89874" y="54165"/>
                  <a:pt x="83134" y="63192"/>
                </a:cubicBezTo>
                <a:lnTo>
                  <a:pt x="62912" y="83503"/>
                </a:lnTo>
                <a:cubicBezTo>
                  <a:pt x="53925" y="92531"/>
                  <a:pt x="53925" y="103815"/>
                  <a:pt x="60665" y="112842"/>
                </a:cubicBezTo>
                <a:lnTo>
                  <a:pt x="80887" y="139925"/>
                </a:lnTo>
                <a:cubicBezTo>
                  <a:pt x="85381" y="146695"/>
                  <a:pt x="87628" y="155723"/>
                  <a:pt x="83134" y="164751"/>
                </a:cubicBezTo>
                <a:cubicBezTo>
                  <a:pt x="78640" y="176035"/>
                  <a:pt x="74146" y="187319"/>
                  <a:pt x="69653" y="198603"/>
                </a:cubicBezTo>
                <a:cubicBezTo>
                  <a:pt x="67406" y="207631"/>
                  <a:pt x="60665" y="212144"/>
                  <a:pt x="51678" y="214401"/>
                </a:cubicBezTo>
                <a:lnTo>
                  <a:pt x="20221" y="218914"/>
                </a:lnTo>
                <a:cubicBezTo>
                  <a:pt x="8987" y="221171"/>
                  <a:pt x="0" y="230199"/>
                  <a:pt x="0" y="241483"/>
                </a:cubicBezTo>
                <a:lnTo>
                  <a:pt x="0" y="268565"/>
                </a:lnTo>
                <a:cubicBezTo>
                  <a:pt x="0" y="279850"/>
                  <a:pt x="8987" y="288877"/>
                  <a:pt x="20221" y="291134"/>
                </a:cubicBezTo>
                <a:lnTo>
                  <a:pt x="51678" y="295648"/>
                </a:lnTo>
                <a:cubicBezTo>
                  <a:pt x="60665" y="297904"/>
                  <a:pt x="67406" y="302418"/>
                  <a:pt x="69653" y="311445"/>
                </a:cubicBezTo>
                <a:cubicBezTo>
                  <a:pt x="74146" y="322730"/>
                  <a:pt x="78640" y="334014"/>
                  <a:pt x="83134" y="345298"/>
                </a:cubicBezTo>
                <a:cubicBezTo>
                  <a:pt x="87628" y="352069"/>
                  <a:pt x="85381" y="363353"/>
                  <a:pt x="80887" y="370124"/>
                </a:cubicBezTo>
                <a:lnTo>
                  <a:pt x="60665" y="397206"/>
                </a:lnTo>
                <a:cubicBezTo>
                  <a:pt x="53925" y="406233"/>
                  <a:pt x="53925" y="419775"/>
                  <a:pt x="62912" y="426545"/>
                </a:cubicBezTo>
                <a:lnTo>
                  <a:pt x="83134" y="446857"/>
                </a:lnTo>
                <a:cubicBezTo>
                  <a:pt x="92121" y="455884"/>
                  <a:pt x="103356" y="455884"/>
                  <a:pt x="112343" y="449114"/>
                </a:cubicBezTo>
                <a:lnTo>
                  <a:pt x="139306" y="428802"/>
                </a:lnTo>
                <a:cubicBezTo>
                  <a:pt x="146046" y="424288"/>
                  <a:pt x="155034" y="422031"/>
                  <a:pt x="164021" y="426545"/>
                </a:cubicBezTo>
                <a:cubicBezTo>
                  <a:pt x="175256" y="431059"/>
                  <a:pt x="186490" y="435573"/>
                  <a:pt x="197724" y="440086"/>
                </a:cubicBezTo>
                <a:cubicBezTo>
                  <a:pt x="206712" y="442343"/>
                  <a:pt x="211205" y="449114"/>
                  <a:pt x="213453" y="458141"/>
                </a:cubicBezTo>
                <a:lnTo>
                  <a:pt x="217946" y="489737"/>
                </a:lnTo>
                <a:cubicBezTo>
                  <a:pt x="220194" y="501021"/>
                  <a:pt x="229181" y="510049"/>
                  <a:pt x="240415" y="510049"/>
                </a:cubicBezTo>
                <a:lnTo>
                  <a:pt x="267376" y="510049"/>
                </a:lnTo>
                <a:cubicBezTo>
                  <a:pt x="278610" y="510049"/>
                  <a:pt x="287599" y="501021"/>
                  <a:pt x="289845" y="489737"/>
                </a:cubicBezTo>
                <a:lnTo>
                  <a:pt x="294341" y="458141"/>
                </a:lnTo>
                <a:cubicBezTo>
                  <a:pt x="296586" y="449114"/>
                  <a:pt x="301080" y="442343"/>
                  <a:pt x="310069" y="440086"/>
                </a:cubicBezTo>
                <a:cubicBezTo>
                  <a:pt x="321303" y="435573"/>
                  <a:pt x="332536" y="431059"/>
                  <a:pt x="343770" y="426545"/>
                </a:cubicBezTo>
                <a:cubicBezTo>
                  <a:pt x="350512" y="422031"/>
                  <a:pt x="361746" y="424288"/>
                  <a:pt x="368485" y="428802"/>
                </a:cubicBezTo>
                <a:lnTo>
                  <a:pt x="395448" y="449114"/>
                </a:lnTo>
                <a:cubicBezTo>
                  <a:pt x="404437" y="455884"/>
                  <a:pt x="417917" y="455884"/>
                  <a:pt x="424658" y="446857"/>
                </a:cubicBezTo>
                <a:lnTo>
                  <a:pt x="444880" y="426545"/>
                </a:lnTo>
                <a:cubicBezTo>
                  <a:pt x="453867" y="417518"/>
                  <a:pt x="453867" y="406233"/>
                  <a:pt x="447125" y="397206"/>
                </a:cubicBezTo>
                <a:lnTo>
                  <a:pt x="426904" y="370124"/>
                </a:lnTo>
                <a:cubicBezTo>
                  <a:pt x="422411" y="363353"/>
                  <a:pt x="420165" y="354326"/>
                  <a:pt x="424658" y="345298"/>
                </a:cubicBezTo>
                <a:lnTo>
                  <a:pt x="438139" y="311445"/>
                </a:lnTo>
                <a:cubicBezTo>
                  <a:pt x="440386" y="302418"/>
                  <a:pt x="447128" y="297904"/>
                  <a:pt x="456114" y="295648"/>
                </a:cubicBezTo>
                <a:close/>
                <a:moveTo>
                  <a:pt x="164750" y="180828"/>
                </a:moveTo>
                <a:cubicBezTo>
                  <a:pt x="164750" y="174057"/>
                  <a:pt x="167007" y="169543"/>
                  <a:pt x="171521" y="167286"/>
                </a:cubicBezTo>
                <a:cubicBezTo>
                  <a:pt x="185062" y="162773"/>
                  <a:pt x="214401" y="151489"/>
                  <a:pt x="252767" y="151489"/>
                </a:cubicBezTo>
                <a:cubicBezTo>
                  <a:pt x="291134" y="151489"/>
                  <a:pt x="320473" y="160516"/>
                  <a:pt x="334014" y="167286"/>
                </a:cubicBezTo>
                <a:cubicBezTo>
                  <a:pt x="340785" y="169543"/>
                  <a:pt x="343041" y="176314"/>
                  <a:pt x="343041" y="180828"/>
                </a:cubicBezTo>
                <a:lnTo>
                  <a:pt x="343041" y="250790"/>
                </a:lnTo>
                <a:cubicBezTo>
                  <a:pt x="343041" y="295927"/>
                  <a:pt x="315959" y="336551"/>
                  <a:pt x="273079" y="352349"/>
                </a:cubicBezTo>
                <a:lnTo>
                  <a:pt x="264051" y="356862"/>
                </a:lnTo>
                <a:cubicBezTo>
                  <a:pt x="257281" y="359119"/>
                  <a:pt x="250510" y="359119"/>
                  <a:pt x="243740" y="356862"/>
                </a:cubicBezTo>
                <a:lnTo>
                  <a:pt x="234712" y="352349"/>
                </a:lnTo>
                <a:cubicBezTo>
                  <a:pt x="191832" y="336551"/>
                  <a:pt x="164750" y="295927"/>
                  <a:pt x="164750" y="250790"/>
                </a:cubicBezTo>
                <a:close/>
                <a:moveTo>
                  <a:pt x="253896" y="358551"/>
                </a:moveTo>
                <a:lnTo>
                  <a:pt x="253896" y="151489"/>
                </a:lnTo>
              </a:path>
            </a:pathLst>
          </a:custGeom>
          <a:noFill/>
          <a:ln w="13544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12461" y="1864041"/>
            <a:ext cx="519076" cy="507928"/>
          </a:xfrm>
          <a:custGeom>
            <a:avLst/>
            <a:gdLst/>
            <a:ahLst/>
            <a:cxnLst/>
            <a:rect l="0" t="0" r="0" b="0"/>
            <a:pathLst>
              <a:path w="519076" h="507928">
                <a:moveTo>
                  <a:pt x="0" y="327289"/>
                </a:moveTo>
                <a:lnTo>
                  <a:pt x="185468" y="327289"/>
                </a:lnTo>
                <a:moveTo>
                  <a:pt x="361254" y="191832"/>
                </a:moveTo>
                <a:lnTo>
                  <a:pt x="361254" y="11284"/>
                </a:lnTo>
                <a:cubicBezTo>
                  <a:pt x="361254" y="5052"/>
                  <a:pt x="356202" y="0"/>
                  <a:pt x="349970" y="0"/>
                </a:cubicBezTo>
                <a:lnTo>
                  <a:pt x="304833" y="0"/>
                </a:lnTo>
                <a:cubicBezTo>
                  <a:pt x="298601" y="0"/>
                  <a:pt x="293549" y="5052"/>
                  <a:pt x="293549" y="11284"/>
                </a:cubicBezTo>
                <a:lnTo>
                  <a:pt x="293549" y="191832"/>
                </a:lnTo>
                <a:moveTo>
                  <a:pt x="225685" y="191832"/>
                </a:moveTo>
                <a:lnTo>
                  <a:pt x="225685" y="101558"/>
                </a:lnTo>
                <a:cubicBezTo>
                  <a:pt x="225685" y="95326"/>
                  <a:pt x="220633" y="90274"/>
                  <a:pt x="214401" y="90274"/>
                </a:cubicBezTo>
                <a:lnTo>
                  <a:pt x="169264" y="90274"/>
                </a:lnTo>
                <a:cubicBezTo>
                  <a:pt x="163032" y="90274"/>
                  <a:pt x="157979" y="95326"/>
                  <a:pt x="157979" y="101558"/>
                </a:cubicBezTo>
                <a:lnTo>
                  <a:pt x="157979" y="327244"/>
                </a:lnTo>
                <a:moveTo>
                  <a:pt x="90274" y="327289"/>
                </a:moveTo>
                <a:lnTo>
                  <a:pt x="90274" y="191877"/>
                </a:lnTo>
                <a:cubicBezTo>
                  <a:pt x="90274" y="185645"/>
                  <a:pt x="85222" y="180593"/>
                  <a:pt x="78989" y="180593"/>
                </a:cubicBezTo>
                <a:lnTo>
                  <a:pt x="33852" y="180593"/>
                </a:lnTo>
                <a:cubicBezTo>
                  <a:pt x="27620" y="180593"/>
                  <a:pt x="22568" y="185645"/>
                  <a:pt x="22568" y="191877"/>
                </a:cubicBezTo>
                <a:lnTo>
                  <a:pt x="22568" y="327289"/>
                </a:lnTo>
                <a:moveTo>
                  <a:pt x="248118" y="259561"/>
                </a:moveTo>
                <a:lnTo>
                  <a:pt x="496508" y="259561"/>
                </a:lnTo>
                <a:cubicBezTo>
                  <a:pt x="496508" y="259561"/>
                  <a:pt x="519076" y="259561"/>
                  <a:pt x="519076" y="282129"/>
                </a:cubicBezTo>
                <a:lnTo>
                  <a:pt x="519076" y="485359"/>
                </a:lnTo>
                <a:cubicBezTo>
                  <a:pt x="519076" y="485359"/>
                  <a:pt x="519076" y="507928"/>
                  <a:pt x="496508" y="507928"/>
                </a:cubicBezTo>
                <a:lnTo>
                  <a:pt x="248118" y="507928"/>
                </a:lnTo>
                <a:cubicBezTo>
                  <a:pt x="248118" y="507928"/>
                  <a:pt x="225550" y="507928"/>
                  <a:pt x="225550" y="485359"/>
                </a:cubicBezTo>
                <a:lnTo>
                  <a:pt x="225550" y="282129"/>
                </a:lnTo>
                <a:cubicBezTo>
                  <a:pt x="225550" y="282129"/>
                  <a:pt x="225550" y="259561"/>
                  <a:pt x="248118" y="259561"/>
                </a:cubicBezTo>
                <a:moveTo>
                  <a:pt x="225550" y="320879"/>
                </a:moveTo>
                <a:lnTo>
                  <a:pt x="519076" y="320879"/>
                </a:lnTo>
                <a:moveTo>
                  <a:pt x="225550" y="383733"/>
                </a:moveTo>
                <a:lnTo>
                  <a:pt x="519076" y="383733"/>
                </a:lnTo>
                <a:moveTo>
                  <a:pt x="225550" y="443224"/>
                </a:moveTo>
                <a:lnTo>
                  <a:pt x="519076" y="443224"/>
                </a:lnTo>
                <a:moveTo>
                  <a:pt x="361254" y="320902"/>
                </a:moveTo>
                <a:lnTo>
                  <a:pt x="361254" y="507928"/>
                </a:lnTo>
                <a:moveTo>
                  <a:pt x="436408" y="320902"/>
                </a:moveTo>
                <a:lnTo>
                  <a:pt x="436408" y="507928"/>
                </a:lnTo>
              </a:path>
            </a:pathLst>
          </a:custGeom>
          <a:noFill/>
          <a:ln w="13544">
            <a:solidFill>
              <a:srgbClr val="BA5DE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45726" y="1880990"/>
            <a:ext cx="519076" cy="473939"/>
          </a:xfrm>
          <a:custGeom>
            <a:avLst/>
            <a:gdLst/>
            <a:ahLst/>
            <a:cxnLst/>
            <a:rect l="0" t="0" r="0" b="0"/>
            <a:pathLst>
              <a:path w="519076" h="473939">
                <a:moveTo>
                  <a:pt x="67705" y="157979"/>
                </a:moveTo>
                <a:cubicBezTo>
                  <a:pt x="67705" y="201604"/>
                  <a:pt x="103070" y="236969"/>
                  <a:pt x="146695" y="236969"/>
                </a:cubicBezTo>
                <a:cubicBezTo>
                  <a:pt x="190320" y="236969"/>
                  <a:pt x="225685" y="201604"/>
                  <a:pt x="225685" y="157979"/>
                </a:cubicBezTo>
                <a:cubicBezTo>
                  <a:pt x="225685" y="114354"/>
                  <a:pt x="190320" y="78989"/>
                  <a:pt x="146695" y="78989"/>
                </a:cubicBezTo>
                <a:cubicBezTo>
                  <a:pt x="103070" y="78989"/>
                  <a:pt x="67705" y="114354"/>
                  <a:pt x="67705" y="157979"/>
                </a:cubicBezTo>
                <a:moveTo>
                  <a:pt x="225685" y="157979"/>
                </a:moveTo>
                <a:lnTo>
                  <a:pt x="146695" y="157979"/>
                </a:lnTo>
                <a:lnTo>
                  <a:pt x="146695" y="78989"/>
                </a:lnTo>
                <a:moveTo>
                  <a:pt x="191832" y="473939"/>
                </a:moveTo>
                <a:cubicBezTo>
                  <a:pt x="212275" y="448126"/>
                  <a:pt x="224114" y="416555"/>
                  <a:pt x="225685" y="383665"/>
                </a:cubicBezTo>
                <a:moveTo>
                  <a:pt x="327244" y="473939"/>
                </a:moveTo>
                <a:cubicBezTo>
                  <a:pt x="306801" y="448126"/>
                  <a:pt x="294961" y="416555"/>
                  <a:pt x="293391" y="383665"/>
                </a:cubicBezTo>
                <a:moveTo>
                  <a:pt x="157957" y="473939"/>
                </a:moveTo>
                <a:lnTo>
                  <a:pt x="361074" y="473939"/>
                </a:lnTo>
                <a:moveTo>
                  <a:pt x="0" y="315959"/>
                </a:moveTo>
                <a:lnTo>
                  <a:pt x="519076" y="315959"/>
                </a:lnTo>
                <a:moveTo>
                  <a:pt x="22568" y="0"/>
                </a:moveTo>
                <a:lnTo>
                  <a:pt x="496508" y="0"/>
                </a:lnTo>
                <a:cubicBezTo>
                  <a:pt x="496508" y="0"/>
                  <a:pt x="519076" y="0"/>
                  <a:pt x="519076" y="22568"/>
                </a:cubicBezTo>
                <a:lnTo>
                  <a:pt x="519076" y="361096"/>
                </a:lnTo>
                <a:cubicBezTo>
                  <a:pt x="519076" y="361096"/>
                  <a:pt x="519076" y="383665"/>
                  <a:pt x="496508" y="383665"/>
                </a:cubicBezTo>
                <a:lnTo>
                  <a:pt x="22568" y="383665"/>
                </a:lnTo>
                <a:cubicBezTo>
                  <a:pt x="22568" y="383665"/>
                  <a:pt x="0" y="383665"/>
                  <a:pt x="0" y="361096"/>
                </a:cubicBezTo>
                <a:lnTo>
                  <a:pt x="0" y="22568"/>
                </a:lnTo>
                <a:cubicBezTo>
                  <a:pt x="0" y="22568"/>
                  <a:pt x="0" y="0"/>
                  <a:pt x="22568" y="0"/>
                </a:cubicBezTo>
                <a:moveTo>
                  <a:pt x="293391" y="124127"/>
                </a:moveTo>
                <a:lnTo>
                  <a:pt x="327244" y="78989"/>
                </a:lnTo>
                <a:lnTo>
                  <a:pt x="394949" y="135411"/>
                </a:lnTo>
                <a:lnTo>
                  <a:pt x="451371" y="67705"/>
                </a:lnTo>
                <a:moveTo>
                  <a:pt x="428802" y="248254"/>
                </a:moveTo>
                <a:lnTo>
                  <a:pt x="428802" y="214401"/>
                </a:lnTo>
                <a:moveTo>
                  <a:pt x="383665" y="248254"/>
                </a:moveTo>
                <a:lnTo>
                  <a:pt x="383665" y="203117"/>
                </a:lnTo>
                <a:moveTo>
                  <a:pt x="338528" y="248254"/>
                </a:moveTo>
                <a:lnTo>
                  <a:pt x="338528" y="180548"/>
                </a:lnTo>
                <a:moveTo>
                  <a:pt x="293391" y="248254"/>
                </a:moveTo>
                <a:lnTo>
                  <a:pt x="293391" y="214401"/>
                </a:lnTo>
              </a:path>
            </a:pathLst>
          </a:custGeom>
          <a:noFill/>
          <a:ln w="13544">
            <a:solidFill>
              <a:srgbClr val="DE58A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" name="Group 14"/>
          <p:cNvGrpSpPr/>
          <p:nvPr/>
        </p:nvGrpSpPr>
        <p:grpSpPr>
          <a:xfrm>
            <a:off x="2356073" y="2497116"/>
            <a:ext cx="965311" cy="649956"/>
            <a:chOff x="2356073" y="2442953"/>
            <a:chExt cx="965311" cy="649956"/>
          </a:xfrm>
        </p:grpSpPr>
        <p:sp>
          <p:nvSpPr>
            <p:cNvPr id="12" name="TextBox 11"/>
            <p:cNvSpPr txBox="1"/>
            <p:nvPr/>
          </p:nvSpPr>
          <p:spPr>
            <a:xfrm>
              <a:off x="2356073" y="2442953"/>
              <a:ext cx="965311" cy="216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4E88E7"/>
                  </a:solidFill>
                  <a:latin typeface="Roboto"/>
                </a:rPr>
                <a:t>Internal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56073" y="2659646"/>
              <a:ext cx="965311" cy="216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4E88E7"/>
                  </a:solidFill>
                  <a:latin typeface="Roboto"/>
                </a:rPr>
                <a:t>Control &amp;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356073" y="2876245"/>
              <a:ext cx="965311" cy="216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4E88E7"/>
                  </a:solidFill>
                  <a:latin typeface="Roboto"/>
                </a:rPr>
                <a:t>Compliance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067785" y="2497114"/>
            <a:ext cx="1008440" cy="433310"/>
            <a:chOff x="4067785" y="2442951"/>
            <a:chExt cx="1008440" cy="433310"/>
          </a:xfrm>
        </p:grpSpPr>
        <p:sp>
          <p:nvSpPr>
            <p:cNvPr id="16" name="TextBox 15"/>
            <p:cNvSpPr txBox="1"/>
            <p:nvPr/>
          </p:nvSpPr>
          <p:spPr>
            <a:xfrm>
              <a:off x="4067785" y="2442951"/>
              <a:ext cx="1008440" cy="216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BA5DE5"/>
                  </a:solidFill>
                  <a:latin typeface="Roboto"/>
                </a:rPr>
                <a:t>Credit Risk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067785" y="2659549"/>
              <a:ext cx="1008440" cy="21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BA5DE5"/>
                  </a:solidFill>
                  <a:latin typeface="Roboto"/>
                </a:rPr>
                <a:t>Assessment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697789" y="2497114"/>
            <a:ext cx="1214961" cy="433310"/>
            <a:chOff x="5697789" y="2442951"/>
            <a:chExt cx="1214961" cy="433310"/>
          </a:xfrm>
        </p:grpSpPr>
        <p:sp>
          <p:nvSpPr>
            <p:cNvPr id="19" name="TextBox 18"/>
            <p:cNvSpPr txBox="1"/>
            <p:nvPr/>
          </p:nvSpPr>
          <p:spPr>
            <a:xfrm>
              <a:off x="5697789" y="2442951"/>
              <a:ext cx="1214961" cy="216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DE58A9"/>
                  </a:solidFill>
                  <a:latin typeface="Roboto"/>
                </a:rPr>
                <a:t>Data Analytics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697789" y="2659549"/>
              <a:ext cx="1214961" cy="21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DE58A9"/>
                  </a:solidFill>
                  <a:latin typeface="Roboto"/>
                </a:rPr>
                <a:t>&amp; MIS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960495" y="3038769"/>
            <a:ext cx="1223010" cy="812443"/>
            <a:chOff x="3960495" y="2984606"/>
            <a:chExt cx="1223010" cy="812443"/>
          </a:xfrm>
        </p:grpSpPr>
        <p:sp>
          <p:nvSpPr>
            <p:cNvPr id="22" name="TextBox 21"/>
            <p:cNvSpPr txBox="1"/>
            <p:nvPr/>
          </p:nvSpPr>
          <p:spPr>
            <a:xfrm>
              <a:off x="3960495" y="2984606"/>
              <a:ext cx="1223010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BA5DE5"/>
                  </a:solidFill>
                  <a:latin typeface="Roboto"/>
                </a:rPr>
                <a:t>CRG Scoring, CIB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60495" y="3147102"/>
              <a:ext cx="1223010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BA5DE5"/>
                  </a:solidFill>
                  <a:latin typeface="Roboto"/>
                </a:rPr>
                <a:t>Analysis, Financial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60495" y="3309599"/>
              <a:ext cx="1223010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BA5DE5"/>
                  </a:solidFill>
                  <a:latin typeface="Roboto"/>
                </a:rPr>
                <a:t>Statement Analysis,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60495" y="3472095"/>
              <a:ext cx="1223010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BA5DE5"/>
                  </a:solidFill>
                  <a:latin typeface="Roboto"/>
                </a:rPr>
                <a:t>and Collateral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60495" y="3634592"/>
              <a:ext cx="1223010" cy="162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BA5DE5"/>
                  </a:solidFill>
                  <a:latin typeface="Roboto"/>
                </a:rPr>
                <a:t>Evaluation.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666156" y="3038768"/>
            <a:ext cx="1278207" cy="974930"/>
            <a:chOff x="5666156" y="2984605"/>
            <a:chExt cx="1278207" cy="974930"/>
          </a:xfrm>
        </p:grpSpPr>
        <p:sp>
          <p:nvSpPr>
            <p:cNvPr id="28" name="TextBox 27"/>
            <p:cNvSpPr txBox="1"/>
            <p:nvPr/>
          </p:nvSpPr>
          <p:spPr>
            <a:xfrm>
              <a:off x="5666156" y="2984605"/>
              <a:ext cx="1278207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DE58A9"/>
                  </a:solidFill>
                  <a:latin typeface="Roboto"/>
                </a:rPr>
                <a:t>Executive Dashboard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666156" y="3147101"/>
              <a:ext cx="1278207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DE58A9"/>
                  </a:solidFill>
                  <a:latin typeface="Roboto"/>
                </a:rPr>
                <a:t>Development, Power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66156" y="3309598"/>
              <a:ext cx="1278207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DE58A9"/>
                  </a:solidFill>
                  <a:latin typeface="Roboto"/>
                </a:rPr>
                <a:t>BI Visualization, and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66156" y="3472094"/>
              <a:ext cx="1278207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DE58A9"/>
                  </a:solidFill>
                  <a:latin typeface="Roboto"/>
                </a:rPr>
                <a:t>Management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66156" y="3634591"/>
              <a:ext cx="1278207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DE58A9"/>
                  </a:solidFill>
                  <a:latin typeface="Roboto"/>
                </a:rPr>
                <a:t>Reporting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66156" y="3797087"/>
              <a:ext cx="1278207" cy="162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DE58A9"/>
                  </a:solidFill>
                  <a:latin typeface="Roboto"/>
                </a:rPr>
                <a:t>Automation.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242945" y="3255426"/>
            <a:ext cx="1191577" cy="812444"/>
            <a:chOff x="2242945" y="3201263"/>
            <a:chExt cx="1191577" cy="812444"/>
          </a:xfrm>
        </p:grpSpPr>
        <p:sp>
          <p:nvSpPr>
            <p:cNvPr id="35" name="TextBox 34"/>
            <p:cNvSpPr txBox="1"/>
            <p:nvPr/>
          </p:nvSpPr>
          <p:spPr>
            <a:xfrm>
              <a:off x="2242945" y="3201263"/>
              <a:ext cx="1191577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E88E7"/>
                  </a:solidFill>
                  <a:latin typeface="Roboto"/>
                </a:rPr>
                <a:t>ISS Reporting to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242945" y="3363760"/>
              <a:ext cx="1191577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E88E7"/>
                  </a:solidFill>
                  <a:latin typeface="Roboto"/>
                </a:rPr>
                <a:t>Bangladesh Bank,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242945" y="3526257"/>
              <a:ext cx="1191577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US" sz="1000" b="0" dirty="0">
                  <a:solidFill>
                    <a:srgbClr val="4E88E7"/>
                  </a:solidFill>
                  <a:latin typeface="Roboto"/>
                </a:rPr>
                <a:t>Periodic </a:t>
              </a:r>
              <a:r>
                <a:rPr sz="1000" b="0" dirty="0">
                  <a:solidFill>
                    <a:srgbClr val="4E88E7"/>
                  </a:solidFill>
                  <a:latin typeface="Roboto"/>
                </a:rPr>
                <a:t>Internal Audits, and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242945" y="3688753"/>
              <a:ext cx="1191577" cy="162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E88E7"/>
                  </a:solidFill>
                  <a:latin typeface="Roboto"/>
                </a:rPr>
                <a:t>Regulatory Circular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242945" y="3851250"/>
              <a:ext cx="1191577" cy="162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E88E7"/>
                  </a:solidFill>
                  <a:latin typeface="Roboto"/>
                </a:rPr>
                <a:t>Monitoring.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>
        <p14:flash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097149" y="914630"/>
            <a:ext cx="2876721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1" dirty="0">
                <a:solidFill>
                  <a:srgbClr val="484848"/>
                </a:solidFill>
                <a:latin typeface="Roboto"/>
              </a:rPr>
              <a:t>By the Numbers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12DE588-9D24-1195-0967-74B56747D924}"/>
              </a:ext>
            </a:extLst>
          </p:cNvPr>
          <p:cNvGrpSpPr/>
          <p:nvPr/>
        </p:nvGrpSpPr>
        <p:grpSpPr>
          <a:xfrm>
            <a:off x="2514600" y="1658724"/>
            <a:ext cx="1971675" cy="1933493"/>
            <a:chOff x="2514600" y="1658724"/>
            <a:chExt cx="1971675" cy="1933493"/>
          </a:xfrm>
        </p:grpSpPr>
        <p:sp>
          <p:nvSpPr>
            <p:cNvPr id="5" name="Rounded Rectangle 4"/>
            <p:cNvSpPr/>
            <p:nvPr/>
          </p:nvSpPr>
          <p:spPr>
            <a:xfrm>
              <a:off x="2514600" y="1658724"/>
              <a:ext cx="1971675" cy="1933493"/>
            </a:xfrm>
            <a:custGeom>
              <a:avLst/>
              <a:gdLst/>
              <a:ahLst/>
              <a:cxnLst/>
              <a:rect l="0" t="0" r="0" b="0"/>
              <a:pathLst>
                <a:path w="1971675" h="1933493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moveTo>
                    <a:pt x="1857375" y="0"/>
                  </a:moveTo>
                  <a:lnTo>
                    <a:pt x="114300" y="0"/>
                  </a:lnTo>
                  <a:moveTo>
                    <a:pt x="1971675" y="114300"/>
                  </a:moveTo>
                  <a:cubicBezTo>
                    <a:pt x="1971675" y="51174"/>
                    <a:pt x="1920500" y="0"/>
                    <a:pt x="1857375" y="0"/>
                  </a:cubicBezTo>
                  <a:moveTo>
                    <a:pt x="1971675" y="1819193"/>
                  </a:moveTo>
                  <a:lnTo>
                    <a:pt x="1971675" y="114300"/>
                  </a:lnTo>
                  <a:moveTo>
                    <a:pt x="1857375" y="1933493"/>
                  </a:moveTo>
                  <a:cubicBezTo>
                    <a:pt x="1920500" y="1933493"/>
                    <a:pt x="1971675" y="1882319"/>
                    <a:pt x="1971675" y="1819193"/>
                  </a:cubicBezTo>
                  <a:moveTo>
                    <a:pt x="1857375" y="1933493"/>
                  </a:moveTo>
                  <a:lnTo>
                    <a:pt x="114300" y="1933493"/>
                  </a:lnTo>
                  <a:moveTo>
                    <a:pt x="114300" y="1933493"/>
                  </a:moveTo>
                  <a:cubicBezTo>
                    <a:pt x="51174" y="1933493"/>
                    <a:pt x="0" y="1882319"/>
                    <a:pt x="0" y="1819193"/>
                  </a:cubicBezTo>
                  <a:moveTo>
                    <a:pt x="0" y="1819193"/>
                  </a:moveTo>
                  <a:lnTo>
                    <a:pt x="0" y="114300"/>
                  </a:lnTo>
                </a:path>
              </a:pathLst>
            </a:custGeom>
            <a:noFill/>
            <a:ln w="14287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E09FEB0-4084-D719-B746-19BE91AD4648}"/>
                </a:ext>
              </a:extLst>
            </p:cNvPr>
            <p:cNvGrpSpPr/>
            <p:nvPr/>
          </p:nvGrpSpPr>
          <p:grpSpPr>
            <a:xfrm>
              <a:off x="2514600" y="1658724"/>
              <a:ext cx="1971675" cy="1933489"/>
              <a:chOff x="2514600" y="1658724"/>
              <a:chExt cx="1971675" cy="1933489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2514600" y="1658724"/>
                <a:ext cx="1971675" cy="1933489"/>
              </a:xfrm>
              <a:custGeom>
                <a:avLst/>
                <a:gdLst/>
                <a:ahLst/>
                <a:cxnLst/>
                <a:rect l="0" t="0" r="0" b="0"/>
                <a:pathLst>
                  <a:path w="1971675" h="1933489">
                    <a:moveTo>
                      <a:pt x="1971675" y="1819189"/>
                    </a:moveTo>
                    <a:cubicBezTo>
                      <a:pt x="1971675" y="1882320"/>
                      <a:pt x="1920497" y="1933489"/>
                      <a:pt x="1857375" y="1933489"/>
                    </a:cubicBezTo>
                    <a:lnTo>
                      <a:pt x="114300" y="1933489"/>
                    </a:lnTo>
                    <a:cubicBezTo>
                      <a:pt x="51177" y="1933489"/>
                      <a:pt x="0" y="1882320"/>
                      <a:pt x="0" y="1819189"/>
                    </a:cubicBezTo>
                    <a:lnTo>
                      <a:pt x="0" y="114300"/>
                    </a:lnTo>
                    <a:cubicBezTo>
                      <a:pt x="0" y="51177"/>
                      <a:pt x="51177" y="0"/>
                      <a:pt x="114300" y="0"/>
                    </a:cubicBezTo>
                    <a:lnTo>
                      <a:pt x="1857375" y="0"/>
                    </a:lnTo>
                    <a:cubicBezTo>
                      <a:pt x="1920497" y="0"/>
                      <a:pt x="1971675" y="51177"/>
                      <a:pt x="1971675" y="114300"/>
                    </a:cubicBezTo>
                    <a:lnTo>
                      <a:pt x="1971675" y="1819189"/>
                    </a:lnTo>
                  </a:path>
                </a:pathLst>
              </a:custGeom>
              <a:solidFill>
                <a:srgbClr val="3CC583">
                  <a:alpha val="2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724150" y="1849224"/>
                <a:ext cx="45187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3100" b="0" dirty="0">
                    <a:solidFill>
                      <a:srgbClr val="3CC583"/>
                    </a:solidFill>
                    <a:latin typeface="Roboto"/>
                  </a:rPr>
                  <a:t>5+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719755" y="2420724"/>
                <a:ext cx="1135075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200" b="1" dirty="0">
                    <a:solidFill>
                      <a:srgbClr val="3CC583"/>
                    </a:solidFill>
                    <a:latin typeface="Roboto"/>
                  </a:rPr>
                  <a:t>Live Dashboards</a:t>
                </a:r>
              </a:p>
            </p:txBody>
          </p:sp>
          <p:grpSp>
            <p:nvGrpSpPr>
              <p:cNvPr id="26" name="Group 25"/>
              <p:cNvGrpSpPr/>
              <p:nvPr/>
            </p:nvGrpSpPr>
            <p:grpSpPr>
              <a:xfrm>
                <a:off x="2719755" y="2696945"/>
                <a:ext cx="1561366" cy="304714"/>
                <a:chOff x="2719755" y="2728950"/>
                <a:chExt cx="1561366" cy="304714"/>
              </a:xfrm>
            </p:grpSpPr>
            <p:sp>
              <p:nvSpPr>
                <p:cNvPr id="24" name="TextBox 23"/>
                <p:cNvSpPr txBox="1"/>
                <p:nvPr/>
              </p:nvSpPr>
              <p:spPr>
                <a:xfrm>
                  <a:off x="2719755" y="2728950"/>
                  <a:ext cx="156136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900" b="0" dirty="0">
                      <a:solidFill>
                        <a:srgbClr val="3CC583"/>
                      </a:solidFill>
                      <a:latin typeface="Roboto"/>
                    </a:rPr>
                    <a:t>Live Dashboards actively used</a:t>
                  </a: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>
                  <a:off x="2719755" y="2881350"/>
                  <a:ext cx="1561366" cy="1523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900" b="0" dirty="0">
                      <a:solidFill>
                        <a:srgbClr val="3CC583"/>
                      </a:solidFill>
                      <a:latin typeface="Roboto"/>
                    </a:rPr>
                    <a:t>by senior management</a:t>
                  </a:r>
                </a:p>
              </p:txBody>
            </p:sp>
          </p:grp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2551D32-C7EF-BBF4-C1BC-8EC0CE4BB7C5}"/>
              </a:ext>
            </a:extLst>
          </p:cNvPr>
          <p:cNvGrpSpPr/>
          <p:nvPr/>
        </p:nvGrpSpPr>
        <p:grpSpPr>
          <a:xfrm>
            <a:off x="4657725" y="1658724"/>
            <a:ext cx="1971675" cy="1933493"/>
            <a:chOff x="4657725" y="1658724"/>
            <a:chExt cx="1971675" cy="1933493"/>
          </a:xfrm>
        </p:grpSpPr>
        <p:sp>
          <p:nvSpPr>
            <p:cNvPr id="7" name="Rounded Rectangle 6"/>
            <p:cNvSpPr/>
            <p:nvPr/>
          </p:nvSpPr>
          <p:spPr>
            <a:xfrm>
              <a:off x="4657725" y="1658724"/>
              <a:ext cx="1971675" cy="1933493"/>
            </a:xfrm>
            <a:custGeom>
              <a:avLst/>
              <a:gdLst/>
              <a:ahLst/>
              <a:cxnLst/>
              <a:rect l="0" t="0" r="0" b="0"/>
              <a:pathLst>
                <a:path w="1971675" h="1933493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moveTo>
                    <a:pt x="1857375" y="0"/>
                  </a:moveTo>
                  <a:lnTo>
                    <a:pt x="114300" y="0"/>
                  </a:lnTo>
                  <a:moveTo>
                    <a:pt x="1971675" y="114300"/>
                  </a:moveTo>
                  <a:cubicBezTo>
                    <a:pt x="1971675" y="51174"/>
                    <a:pt x="1920500" y="0"/>
                    <a:pt x="1857375" y="0"/>
                  </a:cubicBezTo>
                  <a:moveTo>
                    <a:pt x="1971675" y="1819193"/>
                  </a:moveTo>
                  <a:lnTo>
                    <a:pt x="1971675" y="114300"/>
                  </a:lnTo>
                  <a:moveTo>
                    <a:pt x="1857375" y="1933493"/>
                  </a:moveTo>
                  <a:cubicBezTo>
                    <a:pt x="1920500" y="1933493"/>
                    <a:pt x="1971675" y="1882319"/>
                    <a:pt x="1971675" y="1819193"/>
                  </a:cubicBezTo>
                  <a:moveTo>
                    <a:pt x="1857375" y="1933493"/>
                  </a:moveTo>
                  <a:lnTo>
                    <a:pt x="114300" y="1933493"/>
                  </a:lnTo>
                  <a:moveTo>
                    <a:pt x="114300" y="1933493"/>
                  </a:moveTo>
                  <a:cubicBezTo>
                    <a:pt x="51174" y="1933493"/>
                    <a:pt x="0" y="1882319"/>
                    <a:pt x="0" y="1819193"/>
                  </a:cubicBezTo>
                  <a:moveTo>
                    <a:pt x="0" y="1819193"/>
                  </a:moveTo>
                  <a:lnTo>
                    <a:pt x="0" y="114300"/>
                  </a:lnTo>
                </a:path>
              </a:pathLst>
            </a:custGeom>
            <a:noFill/>
            <a:ln w="14287">
              <a:solidFill>
                <a:srgbClr val="DE843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E81AB46-8337-4D54-99B2-DC53785B919B}"/>
                </a:ext>
              </a:extLst>
            </p:cNvPr>
            <p:cNvGrpSpPr/>
            <p:nvPr/>
          </p:nvGrpSpPr>
          <p:grpSpPr>
            <a:xfrm>
              <a:off x="4657725" y="1658724"/>
              <a:ext cx="1971675" cy="1933489"/>
              <a:chOff x="4657725" y="1658724"/>
              <a:chExt cx="1971675" cy="1933489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4657725" y="1658724"/>
                <a:ext cx="1971675" cy="1933489"/>
              </a:xfrm>
              <a:custGeom>
                <a:avLst/>
                <a:gdLst/>
                <a:ahLst/>
                <a:cxnLst/>
                <a:rect l="0" t="0" r="0" b="0"/>
                <a:pathLst>
                  <a:path w="1971675" h="1933489">
                    <a:moveTo>
                      <a:pt x="1971675" y="1819189"/>
                    </a:moveTo>
                    <a:cubicBezTo>
                      <a:pt x="1971675" y="1882320"/>
                      <a:pt x="1920497" y="1933489"/>
                      <a:pt x="1857375" y="1933489"/>
                    </a:cubicBezTo>
                    <a:lnTo>
                      <a:pt x="114300" y="1933489"/>
                    </a:lnTo>
                    <a:cubicBezTo>
                      <a:pt x="51177" y="1933489"/>
                      <a:pt x="0" y="1882320"/>
                      <a:pt x="0" y="1819189"/>
                    </a:cubicBezTo>
                    <a:lnTo>
                      <a:pt x="0" y="114300"/>
                    </a:lnTo>
                    <a:cubicBezTo>
                      <a:pt x="0" y="51177"/>
                      <a:pt x="51177" y="0"/>
                      <a:pt x="114300" y="0"/>
                    </a:cubicBezTo>
                    <a:lnTo>
                      <a:pt x="1857375" y="0"/>
                    </a:lnTo>
                    <a:cubicBezTo>
                      <a:pt x="1920497" y="0"/>
                      <a:pt x="1971675" y="51177"/>
                      <a:pt x="1971675" y="114300"/>
                    </a:cubicBezTo>
                    <a:lnTo>
                      <a:pt x="1971675" y="1819189"/>
                    </a:lnTo>
                  </a:path>
                </a:pathLst>
              </a:custGeom>
              <a:solidFill>
                <a:srgbClr val="DE8431">
                  <a:alpha val="2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867274" y="1849224"/>
                <a:ext cx="742692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3100" b="0" dirty="0">
                    <a:solidFill>
                      <a:srgbClr val="DE8431"/>
                    </a:solidFill>
                    <a:latin typeface="Roboto"/>
                  </a:rPr>
                  <a:t>95%</a:t>
                </a: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4867275" y="2420725"/>
                <a:ext cx="812701" cy="381046"/>
                <a:chOff x="4867275" y="2452730"/>
                <a:chExt cx="812701" cy="381046"/>
              </a:xfrm>
            </p:grpSpPr>
            <p:sp>
              <p:nvSpPr>
                <p:cNvPr id="20" name="TextBox 19"/>
                <p:cNvSpPr txBox="1"/>
                <p:nvPr/>
              </p:nvSpPr>
              <p:spPr>
                <a:xfrm>
                  <a:off x="4867275" y="2452730"/>
                  <a:ext cx="812701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 dirty="0">
                      <a:solidFill>
                        <a:srgbClr val="DE8431"/>
                      </a:solidFill>
                      <a:latin typeface="Roboto"/>
                    </a:rPr>
                    <a:t>Regulatory</a:t>
                  </a: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4867275" y="2643230"/>
                  <a:ext cx="812701" cy="1905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1200" b="1">
                      <a:solidFill>
                        <a:srgbClr val="DE8431"/>
                      </a:solidFill>
                      <a:latin typeface="Roboto"/>
                    </a:rPr>
                    <a:t>Compliance</a:t>
                  </a:r>
                </a:p>
              </p:txBody>
            </p:sp>
          </p:grpSp>
          <p:grpSp>
            <p:nvGrpSpPr>
              <p:cNvPr id="30" name="Group 29"/>
              <p:cNvGrpSpPr/>
              <p:nvPr/>
            </p:nvGrpSpPr>
            <p:grpSpPr>
              <a:xfrm>
                <a:off x="4867275" y="2887487"/>
                <a:ext cx="1307049" cy="304714"/>
                <a:chOff x="4867275" y="2919492"/>
                <a:chExt cx="1307049" cy="304714"/>
              </a:xfrm>
            </p:grpSpPr>
            <p:sp>
              <p:nvSpPr>
                <p:cNvPr id="28" name="TextBox 27"/>
                <p:cNvSpPr txBox="1"/>
                <p:nvPr/>
              </p:nvSpPr>
              <p:spPr>
                <a:xfrm>
                  <a:off x="4867275" y="2919492"/>
                  <a:ext cx="130704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900" b="0" dirty="0">
                      <a:solidFill>
                        <a:srgbClr val="DE8431"/>
                      </a:solidFill>
                      <a:latin typeface="Roboto"/>
                    </a:rPr>
                    <a:t>Regulatory Compliance</a:t>
                  </a: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4867275" y="3071892"/>
                  <a:ext cx="1307049" cy="1523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900" b="0" dirty="0">
                      <a:solidFill>
                        <a:srgbClr val="DE8431"/>
                      </a:solidFill>
                      <a:latin typeface="Roboto"/>
                    </a:rPr>
                    <a:t>Accuracy in </a:t>
                  </a:r>
                  <a:r>
                    <a:rPr lang="en-US" sz="900" b="0" dirty="0">
                      <a:solidFill>
                        <a:srgbClr val="DE8431"/>
                      </a:solidFill>
                      <a:latin typeface="Roboto"/>
                    </a:rPr>
                    <a:t>Bangladesh Bank </a:t>
                  </a:r>
                </a:p>
                <a:p>
                  <a:pPr algn="l"/>
                  <a:r>
                    <a:rPr sz="900" b="0" dirty="0">
                      <a:solidFill>
                        <a:srgbClr val="DE8431"/>
                      </a:solidFill>
                      <a:latin typeface="Roboto"/>
                    </a:rPr>
                    <a:t>Reporting</a:t>
                  </a:r>
                </a:p>
              </p:txBody>
            </p:sp>
          </p:grp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6CE1112-BA1A-48FE-32FD-71D2E94742AA}"/>
              </a:ext>
            </a:extLst>
          </p:cNvPr>
          <p:cNvGrpSpPr/>
          <p:nvPr/>
        </p:nvGrpSpPr>
        <p:grpSpPr>
          <a:xfrm>
            <a:off x="371475" y="1658724"/>
            <a:ext cx="1971675" cy="1933493"/>
            <a:chOff x="371475" y="1658724"/>
            <a:chExt cx="1971675" cy="1933493"/>
          </a:xfrm>
        </p:grpSpPr>
        <p:sp>
          <p:nvSpPr>
            <p:cNvPr id="2" name="Rounded Rectangle 1"/>
            <p:cNvSpPr/>
            <p:nvPr/>
          </p:nvSpPr>
          <p:spPr>
            <a:xfrm>
              <a:off x="371475" y="1658724"/>
              <a:ext cx="1971675" cy="1933489"/>
            </a:xfrm>
            <a:custGeom>
              <a:avLst/>
              <a:gdLst/>
              <a:ahLst/>
              <a:cxnLst/>
              <a:rect l="0" t="0" r="0" b="0"/>
              <a:pathLst>
                <a:path w="1971675" h="1933489">
                  <a:moveTo>
                    <a:pt x="1971675" y="1819189"/>
                  </a:moveTo>
                  <a:cubicBezTo>
                    <a:pt x="1971675" y="1882320"/>
                    <a:pt x="1920497" y="1933489"/>
                    <a:pt x="1857375" y="1933489"/>
                  </a:cubicBezTo>
                  <a:lnTo>
                    <a:pt x="114300" y="1933489"/>
                  </a:lnTo>
                  <a:cubicBezTo>
                    <a:pt x="51177" y="1933489"/>
                    <a:pt x="0" y="1882320"/>
                    <a:pt x="0" y="1819189"/>
                  </a:cubicBezTo>
                  <a:lnTo>
                    <a:pt x="0" y="114300"/>
                  </a:lnTo>
                  <a:cubicBezTo>
                    <a:pt x="0" y="51177"/>
                    <a:pt x="51177" y="0"/>
                    <a:pt x="114300" y="0"/>
                  </a:cubicBezTo>
                  <a:lnTo>
                    <a:pt x="1857375" y="0"/>
                  </a:lnTo>
                  <a:cubicBezTo>
                    <a:pt x="1920497" y="0"/>
                    <a:pt x="1971675" y="51177"/>
                    <a:pt x="1971675" y="114300"/>
                  </a:cubicBezTo>
                  <a:lnTo>
                    <a:pt x="1971675" y="1819189"/>
                  </a:lnTo>
                </a:path>
              </a:pathLst>
            </a:custGeom>
            <a:solidFill>
              <a:srgbClr val="4E88E7">
                <a:alpha val="2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0D7AB11-CBE5-75BA-2CE1-3A903EF0057F}"/>
                </a:ext>
              </a:extLst>
            </p:cNvPr>
            <p:cNvGrpSpPr/>
            <p:nvPr/>
          </p:nvGrpSpPr>
          <p:grpSpPr>
            <a:xfrm>
              <a:off x="371475" y="1658724"/>
              <a:ext cx="1971675" cy="1933493"/>
              <a:chOff x="371475" y="1658724"/>
              <a:chExt cx="1971675" cy="1933493"/>
            </a:xfrm>
          </p:grpSpPr>
          <p:sp>
            <p:nvSpPr>
              <p:cNvPr id="3" name="Rounded Rectangle 2"/>
              <p:cNvSpPr/>
              <p:nvPr/>
            </p:nvSpPr>
            <p:spPr>
              <a:xfrm>
                <a:off x="371475" y="1658724"/>
                <a:ext cx="1971675" cy="1933493"/>
              </a:xfrm>
              <a:custGeom>
                <a:avLst/>
                <a:gdLst/>
                <a:ahLst/>
                <a:cxnLst/>
                <a:rect l="0" t="0" r="0" b="0"/>
                <a:pathLst>
                  <a:path w="1971675" h="1933493">
                    <a:moveTo>
                      <a:pt x="0" y="114300"/>
                    </a:moveTo>
                    <a:cubicBezTo>
                      <a:pt x="0" y="51174"/>
                      <a:pt x="51174" y="0"/>
                      <a:pt x="114300" y="0"/>
                    </a:cubicBezTo>
                    <a:moveTo>
                      <a:pt x="1857375" y="0"/>
                    </a:moveTo>
                    <a:lnTo>
                      <a:pt x="114300" y="0"/>
                    </a:lnTo>
                    <a:moveTo>
                      <a:pt x="1971675" y="114300"/>
                    </a:moveTo>
                    <a:cubicBezTo>
                      <a:pt x="1971675" y="51174"/>
                      <a:pt x="1920500" y="0"/>
                      <a:pt x="1857375" y="0"/>
                    </a:cubicBezTo>
                    <a:moveTo>
                      <a:pt x="1971675" y="1819193"/>
                    </a:moveTo>
                    <a:lnTo>
                      <a:pt x="1971675" y="114300"/>
                    </a:lnTo>
                    <a:moveTo>
                      <a:pt x="1857375" y="1933493"/>
                    </a:moveTo>
                    <a:cubicBezTo>
                      <a:pt x="1920500" y="1933493"/>
                      <a:pt x="1971675" y="1882319"/>
                      <a:pt x="1971675" y="1819193"/>
                    </a:cubicBezTo>
                    <a:moveTo>
                      <a:pt x="1857375" y="1933493"/>
                    </a:moveTo>
                    <a:lnTo>
                      <a:pt x="114300" y="1933493"/>
                    </a:lnTo>
                    <a:moveTo>
                      <a:pt x="114300" y="1933493"/>
                    </a:moveTo>
                    <a:cubicBezTo>
                      <a:pt x="51174" y="1933493"/>
                      <a:pt x="0" y="1882319"/>
                      <a:pt x="0" y="1819193"/>
                    </a:cubicBezTo>
                    <a:moveTo>
                      <a:pt x="0" y="1819193"/>
                    </a:moveTo>
                    <a:lnTo>
                      <a:pt x="0" y="114300"/>
                    </a:lnTo>
                  </a:path>
                </a:pathLst>
              </a:custGeom>
              <a:noFill/>
              <a:ln w="14287">
                <a:solidFill>
                  <a:srgbClr val="4E88E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581025" y="1849224"/>
                <a:ext cx="1191053" cy="800100"/>
                <a:chOff x="581025" y="1881229"/>
                <a:chExt cx="1191053" cy="800100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581025" y="1881229"/>
                  <a:ext cx="1191053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3100" b="0" dirty="0">
                      <a:solidFill>
                        <a:srgbClr val="4E88E7"/>
                      </a:solidFill>
                      <a:latin typeface="Roboto"/>
                    </a:rPr>
                    <a:t>950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81025" y="2281279"/>
                  <a:ext cx="1191053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3100" b="0" dirty="0">
                      <a:solidFill>
                        <a:srgbClr val="4E88E7"/>
                      </a:solidFill>
                      <a:latin typeface="Roboto"/>
                    </a:rPr>
                    <a:t>Crore+</a:t>
                  </a:r>
                </a:p>
              </p:txBody>
            </p:sp>
          </p:grpSp>
          <p:sp>
            <p:nvSpPr>
              <p:cNvPr id="23" name="TextBox 22"/>
              <p:cNvSpPr txBox="1"/>
              <p:nvPr/>
            </p:nvSpPr>
            <p:spPr>
              <a:xfrm>
                <a:off x="581025" y="2820774"/>
                <a:ext cx="1541878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200" b="1" dirty="0">
                    <a:solidFill>
                      <a:srgbClr val="4E88E7"/>
                    </a:solidFill>
                    <a:latin typeface="Roboto"/>
                  </a:rPr>
                  <a:t>Portfolio Management</a:t>
                </a:r>
              </a:p>
            </p:txBody>
          </p:sp>
          <p:grpSp>
            <p:nvGrpSpPr>
              <p:cNvPr id="33" name="Group 32"/>
              <p:cNvGrpSpPr/>
              <p:nvPr/>
            </p:nvGrpSpPr>
            <p:grpSpPr>
              <a:xfrm>
                <a:off x="581025" y="3096995"/>
                <a:ext cx="1171441" cy="304714"/>
                <a:chOff x="581025" y="3129000"/>
                <a:chExt cx="1171441" cy="304714"/>
              </a:xfrm>
            </p:grpSpPr>
            <p:sp>
              <p:nvSpPr>
                <p:cNvPr id="31" name="TextBox 30"/>
                <p:cNvSpPr txBox="1"/>
                <p:nvPr/>
              </p:nvSpPr>
              <p:spPr>
                <a:xfrm>
                  <a:off x="581025" y="3129000"/>
                  <a:ext cx="117144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lang="en-US" sz="900" b="0" dirty="0">
                      <a:solidFill>
                        <a:srgbClr val="4E88E7"/>
                      </a:solidFill>
                      <a:latin typeface="Roboto"/>
                    </a:rPr>
                    <a:t>Large </a:t>
                  </a:r>
                  <a:r>
                    <a:rPr sz="900" b="0" dirty="0">
                      <a:solidFill>
                        <a:srgbClr val="4E88E7"/>
                      </a:solidFill>
                      <a:latin typeface="Roboto"/>
                    </a:rPr>
                    <a:t>Portfolio Management</a:t>
                  </a:r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581025" y="3281400"/>
                  <a:ext cx="1171441" cy="1523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900" b="0">
                      <a:solidFill>
                        <a:srgbClr val="4E88E7"/>
                      </a:solidFill>
                      <a:latin typeface="Roboto"/>
                    </a:rPr>
                    <a:t>Experience</a:t>
                  </a:r>
                </a:p>
              </p:txBody>
            </p:sp>
          </p:grp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31DB4AA-6D49-E98F-D22A-9DE6988999E2}"/>
              </a:ext>
            </a:extLst>
          </p:cNvPr>
          <p:cNvGrpSpPr/>
          <p:nvPr/>
        </p:nvGrpSpPr>
        <p:grpSpPr>
          <a:xfrm>
            <a:off x="6800850" y="1658724"/>
            <a:ext cx="1971675" cy="1933493"/>
            <a:chOff x="6800850" y="1658724"/>
            <a:chExt cx="1971675" cy="1933493"/>
          </a:xfrm>
        </p:grpSpPr>
        <p:sp>
          <p:nvSpPr>
            <p:cNvPr id="8" name="Rounded Rectangle 7"/>
            <p:cNvSpPr/>
            <p:nvPr/>
          </p:nvSpPr>
          <p:spPr>
            <a:xfrm>
              <a:off x="6800850" y="1658724"/>
              <a:ext cx="1971675" cy="1933489"/>
            </a:xfrm>
            <a:custGeom>
              <a:avLst/>
              <a:gdLst/>
              <a:ahLst/>
              <a:cxnLst/>
              <a:rect l="0" t="0" r="0" b="0"/>
              <a:pathLst>
                <a:path w="1971675" h="1933489">
                  <a:moveTo>
                    <a:pt x="1971675" y="1819189"/>
                  </a:moveTo>
                  <a:cubicBezTo>
                    <a:pt x="1971675" y="1882320"/>
                    <a:pt x="1920497" y="1933489"/>
                    <a:pt x="1857375" y="1933489"/>
                  </a:cubicBezTo>
                  <a:lnTo>
                    <a:pt x="114300" y="1933489"/>
                  </a:lnTo>
                  <a:cubicBezTo>
                    <a:pt x="51177" y="1933489"/>
                    <a:pt x="0" y="1882320"/>
                    <a:pt x="0" y="1819189"/>
                  </a:cubicBezTo>
                  <a:lnTo>
                    <a:pt x="0" y="114300"/>
                  </a:lnTo>
                  <a:cubicBezTo>
                    <a:pt x="0" y="51177"/>
                    <a:pt x="51177" y="0"/>
                    <a:pt x="114300" y="0"/>
                  </a:cubicBezTo>
                  <a:lnTo>
                    <a:pt x="1857375" y="0"/>
                  </a:lnTo>
                  <a:cubicBezTo>
                    <a:pt x="1920497" y="0"/>
                    <a:pt x="1971675" y="51177"/>
                    <a:pt x="1971675" y="114300"/>
                  </a:cubicBezTo>
                  <a:lnTo>
                    <a:pt x="1971675" y="1819189"/>
                  </a:lnTo>
                </a:path>
              </a:pathLst>
            </a:custGeom>
            <a:solidFill>
              <a:srgbClr val="DE58A9">
                <a:alpha val="2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956C11F-2979-D16A-7BCA-EA68BAA8CDEA}"/>
                </a:ext>
              </a:extLst>
            </p:cNvPr>
            <p:cNvGrpSpPr/>
            <p:nvPr/>
          </p:nvGrpSpPr>
          <p:grpSpPr>
            <a:xfrm>
              <a:off x="6800850" y="1658724"/>
              <a:ext cx="1971675" cy="1933493"/>
              <a:chOff x="6800850" y="1658724"/>
              <a:chExt cx="1971675" cy="1933493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6800850" y="1658724"/>
                <a:ext cx="1971675" cy="1933493"/>
              </a:xfrm>
              <a:custGeom>
                <a:avLst/>
                <a:gdLst/>
                <a:ahLst/>
                <a:cxnLst/>
                <a:rect l="0" t="0" r="0" b="0"/>
                <a:pathLst>
                  <a:path w="1971675" h="1933493">
                    <a:moveTo>
                      <a:pt x="0" y="114300"/>
                    </a:moveTo>
                    <a:cubicBezTo>
                      <a:pt x="0" y="51174"/>
                      <a:pt x="51174" y="0"/>
                      <a:pt x="114300" y="0"/>
                    </a:cubicBezTo>
                    <a:moveTo>
                      <a:pt x="1857375" y="0"/>
                    </a:moveTo>
                    <a:lnTo>
                      <a:pt x="114300" y="0"/>
                    </a:lnTo>
                    <a:moveTo>
                      <a:pt x="1971675" y="114300"/>
                    </a:moveTo>
                    <a:cubicBezTo>
                      <a:pt x="1971675" y="51174"/>
                      <a:pt x="1920500" y="0"/>
                      <a:pt x="1857375" y="0"/>
                    </a:cubicBezTo>
                    <a:moveTo>
                      <a:pt x="1971675" y="1819193"/>
                    </a:moveTo>
                    <a:lnTo>
                      <a:pt x="1971675" y="114300"/>
                    </a:lnTo>
                    <a:moveTo>
                      <a:pt x="1857375" y="1933493"/>
                    </a:moveTo>
                    <a:cubicBezTo>
                      <a:pt x="1920500" y="1933493"/>
                      <a:pt x="1971675" y="1882319"/>
                      <a:pt x="1971675" y="1819193"/>
                    </a:cubicBezTo>
                    <a:moveTo>
                      <a:pt x="1857375" y="1933493"/>
                    </a:moveTo>
                    <a:lnTo>
                      <a:pt x="114300" y="1933493"/>
                    </a:lnTo>
                    <a:moveTo>
                      <a:pt x="114300" y="1933493"/>
                    </a:moveTo>
                    <a:cubicBezTo>
                      <a:pt x="51174" y="1933493"/>
                      <a:pt x="0" y="1882319"/>
                      <a:pt x="0" y="1819193"/>
                    </a:cubicBezTo>
                    <a:moveTo>
                      <a:pt x="0" y="1819193"/>
                    </a:moveTo>
                    <a:lnTo>
                      <a:pt x="0" y="114300"/>
                    </a:lnTo>
                  </a:path>
                </a:pathLst>
              </a:custGeom>
              <a:noFill/>
              <a:ln w="14287">
                <a:solidFill>
                  <a:srgbClr val="DE58A9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18" name="Group 17"/>
              <p:cNvGrpSpPr/>
              <p:nvPr/>
            </p:nvGrpSpPr>
            <p:grpSpPr>
              <a:xfrm>
                <a:off x="7010400" y="1849224"/>
                <a:ext cx="1160668" cy="800100"/>
                <a:chOff x="7010400" y="1881229"/>
                <a:chExt cx="1160668" cy="800100"/>
              </a:xfrm>
            </p:grpSpPr>
            <p:sp>
              <p:nvSpPr>
                <p:cNvPr id="16" name="TextBox 15"/>
                <p:cNvSpPr txBox="1"/>
                <p:nvPr/>
              </p:nvSpPr>
              <p:spPr>
                <a:xfrm>
                  <a:off x="7010400" y="1881229"/>
                  <a:ext cx="1160668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3100" b="0">
                      <a:solidFill>
                        <a:srgbClr val="DE58A9"/>
                      </a:solidFill>
                      <a:latin typeface="Roboto"/>
                    </a:rPr>
                    <a:t>BDT 7</a:t>
                  </a: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7010400" y="2281279"/>
                  <a:ext cx="1160668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3100" b="0" dirty="0">
                      <a:solidFill>
                        <a:srgbClr val="DE58A9"/>
                      </a:solidFill>
                      <a:latin typeface="Roboto"/>
                    </a:rPr>
                    <a:t>Lac+</a:t>
                  </a:r>
                </a:p>
              </p:txBody>
            </p:sp>
          </p:grpSp>
          <p:sp>
            <p:nvSpPr>
              <p:cNvPr id="27" name="TextBox 26"/>
              <p:cNvSpPr txBox="1"/>
              <p:nvPr/>
            </p:nvSpPr>
            <p:spPr>
              <a:xfrm>
                <a:off x="7010400" y="2820774"/>
                <a:ext cx="854392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200" b="1">
                    <a:solidFill>
                      <a:srgbClr val="DE58A9"/>
                    </a:solidFill>
                    <a:latin typeface="Roboto"/>
                  </a:rPr>
                  <a:t>Digital Sales</a:t>
                </a:r>
              </a:p>
            </p:txBody>
          </p:sp>
          <p:grpSp>
            <p:nvGrpSpPr>
              <p:cNvPr id="36" name="Group 35"/>
              <p:cNvGrpSpPr/>
              <p:nvPr/>
            </p:nvGrpSpPr>
            <p:grpSpPr>
              <a:xfrm>
                <a:off x="7010400" y="3096995"/>
                <a:ext cx="1381858" cy="304714"/>
                <a:chOff x="7010400" y="3129000"/>
                <a:chExt cx="1381858" cy="304714"/>
              </a:xfrm>
            </p:grpSpPr>
            <p:sp>
              <p:nvSpPr>
                <p:cNvPr id="34" name="TextBox 33"/>
                <p:cNvSpPr txBox="1"/>
                <p:nvPr/>
              </p:nvSpPr>
              <p:spPr>
                <a:xfrm>
                  <a:off x="7010400" y="3129000"/>
                  <a:ext cx="138185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900" b="0">
                      <a:solidFill>
                        <a:srgbClr val="DE58A9"/>
                      </a:solidFill>
                      <a:latin typeface="Roboto"/>
                    </a:rPr>
                    <a:t>Digital Sales Generated via</a:t>
                  </a:r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7010400" y="3281400"/>
                  <a:ext cx="1381858" cy="1523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>
                  <a:noAutofit/>
                </a:bodyPr>
                <a:lstStyle/>
                <a:p>
                  <a:pPr algn="l"/>
                  <a:r>
                    <a:rPr sz="900" b="0" dirty="0">
                      <a:solidFill>
                        <a:srgbClr val="DE58A9"/>
                      </a:solidFill>
                      <a:latin typeface="Roboto"/>
                    </a:rPr>
                    <a:t>Marketplace Optimization</a:t>
                  </a:r>
                  <a:r>
                    <a:rPr lang="en-US" sz="900" b="0" dirty="0">
                      <a:solidFill>
                        <a:srgbClr val="DE58A9"/>
                      </a:solidFill>
                      <a:latin typeface="Roboto"/>
                    </a:rPr>
                    <a:t> as </a:t>
                  </a:r>
                </a:p>
                <a:p>
                  <a:pPr algn="l"/>
                  <a:r>
                    <a:rPr lang="en-US" sz="900" b="0" dirty="0">
                      <a:solidFill>
                        <a:srgbClr val="DE58A9"/>
                      </a:solidFill>
                      <a:latin typeface="Roboto"/>
                    </a:rPr>
                    <a:t>an intern</a:t>
                  </a:r>
                  <a:endParaRPr sz="900" b="0" dirty="0">
                    <a:solidFill>
                      <a:srgbClr val="DE58A9"/>
                    </a:solidFill>
                    <a:latin typeface="Roboto"/>
                  </a:endParaRPr>
                </a:p>
              </p:txBody>
            </p:sp>
          </p:grpSp>
        </p:grpSp>
      </p:grpSp>
      <p:sp>
        <p:nvSpPr>
          <p:cNvPr id="37" name="TextBox 36"/>
          <p:cNvSpPr txBox="1"/>
          <p:nvPr/>
        </p:nvSpPr>
        <p:spPr>
          <a:xfrm>
            <a:off x="2228469" y="4000269"/>
            <a:ext cx="48217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00" b="0" dirty="0">
                <a:solidFill>
                  <a:srgbClr val="484848"/>
                </a:solidFill>
                <a:latin typeface="Roboto"/>
              </a:rPr>
              <a:t>Key performance indicators and professional milestones.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reveal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2342273" y="503438"/>
            <a:ext cx="4447832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 dirty="0">
                <a:solidFill>
                  <a:srgbClr val="484848"/>
                </a:solidFill>
                <a:latin typeface="Roboto"/>
              </a:rPr>
              <a:t>Explore the Full Portfolio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FC1067-3D91-EF68-A48F-0EBC2560B01D}"/>
              </a:ext>
            </a:extLst>
          </p:cNvPr>
          <p:cNvGrpSpPr/>
          <p:nvPr/>
        </p:nvGrpSpPr>
        <p:grpSpPr>
          <a:xfrm>
            <a:off x="1596987" y="1637866"/>
            <a:ext cx="5399551" cy="3002195"/>
            <a:chOff x="1596987" y="1637866"/>
            <a:chExt cx="5399551" cy="3002195"/>
          </a:xfrm>
        </p:grpSpPr>
        <p:grpSp>
          <p:nvGrpSpPr>
            <p:cNvPr id="17" name="Group 16"/>
            <p:cNvGrpSpPr/>
            <p:nvPr/>
          </p:nvGrpSpPr>
          <p:grpSpPr>
            <a:xfrm>
              <a:off x="4621175" y="2264697"/>
              <a:ext cx="2375361" cy="2375363"/>
              <a:chOff x="4626985" y="2132734"/>
              <a:chExt cx="2375361" cy="2375363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4626985" y="2132734"/>
                <a:ext cx="1995963" cy="2375361"/>
              </a:xfrm>
              <a:custGeom>
                <a:avLst/>
                <a:gdLst/>
                <a:ahLst/>
                <a:cxnLst/>
                <a:rect l="0" t="0" r="0" b="0"/>
                <a:pathLst>
                  <a:path w="1995963" h="2375361">
                    <a:moveTo>
                      <a:pt x="0" y="989734"/>
                    </a:moveTo>
                    <a:lnTo>
                      <a:pt x="1006706" y="0"/>
                    </a:lnTo>
                    <a:lnTo>
                      <a:pt x="1995963" y="989734"/>
                    </a:lnTo>
                    <a:lnTo>
                      <a:pt x="1583574" y="989734"/>
                    </a:lnTo>
                    <a:lnTo>
                      <a:pt x="1583574" y="2375361"/>
                    </a:lnTo>
                    <a:lnTo>
                      <a:pt x="527864" y="2375361"/>
                    </a:lnTo>
                    <a:lnTo>
                      <a:pt x="527864" y="989734"/>
                    </a:lnTo>
                    <a:lnTo>
                      <a:pt x="0" y="989734"/>
                    </a:lnTo>
                    <a:close/>
                  </a:path>
                </a:pathLst>
              </a:custGeom>
              <a:noFill/>
              <a:ln w="16494">
                <a:solidFill>
                  <a:srgbClr val="4E88E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5633687" y="2132734"/>
                <a:ext cx="1368659" cy="989734"/>
              </a:xfrm>
              <a:custGeom>
                <a:avLst/>
                <a:gdLst/>
                <a:ahLst/>
                <a:cxnLst/>
                <a:rect l="0" t="0" r="0" b="0"/>
                <a:pathLst>
                  <a:path w="1368659" h="989734">
                    <a:moveTo>
                      <a:pt x="0" y="0"/>
                    </a:moveTo>
                    <a:lnTo>
                      <a:pt x="384582" y="0"/>
                    </a:lnTo>
                    <a:lnTo>
                      <a:pt x="1368659" y="989734"/>
                    </a:lnTo>
                    <a:lnTo>
                      <a:pt x="989261" y="98973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6494">
                <a:solidFill>
                  <a:srgbClr val="4E88E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6210559" y="3122469"/>
                <a:ext cx="340908" cy="1385628"/>
              </a:xfrm>
              <a:custGeom>
                <a:avLst/>
                <a:gdLst/>
                <a:ahLst/>
                <a:cxnLst/>
                <a:rect l="0" t="0" r="0" b="0"/>
                <a:pathLst>
                  <a:path w="340908" h="1385628">
                    <a:moveTo>
                      <a:pt x="12" y="0"/>
                    </a:moveTo>
                    <a:lnTo>
                      <a:pt x="339346" y="0"/>
                    </a:lnTo>
                    <a:lnTo>
                      <a:pt x="340908" y="1385627"/>
                    </a:lnTo>
                    <a:lnTo>
                      <a:pt x="0" y="1385628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16494">
                <a:solidFill>
                  <a:srgbClr val="4E88E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621175" y="2264697"/>
              <a:ext cx="2375363" cy="2375364"/>
              <a:chOff x="4626985" y="2132734"/>
              <a:chExt cx="2375363" cy="2375364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5633692" y="2132734"/>
                <a:ext cx="1368656" cy="989733"/>
              </a:xfrm>
              <a:custGeom>
                <a:avLst/>
                <a:gdLst/>
                <a:ahLst/>
                <a:cxnLst/>
                <a:rect l="0" t="0" r="0" b="0"/>
                <a:pathLst>
                  <a:path w="1368656" h="989733">
                    <a:moveTo>
                      <a:pt x="0" y="0"/>
                    </a:moveTo>
                    <a:lnTo>
                      <a:pt x="384581" y="0"/>
                    </a:lnTo>
                    <a:lnTo>
                      <a:pt x="1368656" y="989733"/>
                    </a:lnTo>
                    <a:lnTo>
                      <a:pt x="989256" y="98973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E88E7">
                  <a:alpha val="2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6210564" y="3122468"/>
                <a:ext cx="340899" cy="1385630"/>
              </a:xfrm>
              <a:custGeom>
                <a:avLst/>
                <a:gdLst/>
                <a:ahLst/>
                <a:cxnLst/>
                <a:rect l="0" t="0" r="0" b="0"/>
                <a:pathLst>
                  <a:path w="340899" h="1385630">
                    <a:moveTo>
                      <a:pt x="9" y="0"/>
                    </a:moveTo>
                    <a:lnTo>
                      <a:pt x="339347" y="0"/>
                    </a:lnTo>
                    <a:lnTo>
                      <a:pt x="340899" y="1385630"/>
                    </a:lnTo>
                    <a:lnTo>
                      <a:pt x="0" y="138563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E88E7">
                  <a:alpha val="2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4626985" y="2132734"/>
                <a:ext cx="1995963" cy="2375363"/>
              </a:xfrm>
              <a:custGeom>
                <a:avLst/>
                <a:gdLst/>
                <a:ahLst/>
                <a:cxnLst/>
                <a:rect l="0" t="0" r="0" b="0"/>
                <a:pathLst>
                  <a:path w="1995963" h="2375363">
                    <a:moveTo>
                      <a:pt x="0" y="989733"/>
                    </a:moveTo>
                    <a:lnTo>
                      <a:pt x="1006706" y="0"/>
                    </a:lnTo>
                    <a:lnTo>
                      <a:pt x="1995963" y="989733"/>
                    </a:lnTo>
                    <a:lnTo>
                      <a:pt x="1583578" y="989733"/>
                    </a:lnTo>
                    <a:lnTo>
                      <a:pt x="1583578" y="2375363"/>
                    </a:lnTo>
                    <a:lnTo>
                      <a:pt x="527865" y="2375363"/>
                    </a:lnTo>
                    <a:lnTo>
                      <a:pt x="527865" y="989733"/>
                    </a:lnTo>
                    <a:lnTo>
                      <a:pt x="0" y="989733"/>
                    </a:lnTo>
                  </a:path>
                </a:pathLst>
              </a:custGeom>
              <a:solidFill>
                <a:srgbClr val="4E88E7">
                  <a:alpha val="2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9" name="Rounded Rectangle 18"/>
            <p:cNvSpPr/>
            <p:nvPr/>
          </p:nvSpPr>
          <p:spPr>
            <a:xfrm>
              <a:off x="1596987" y="1648863"/>
              <a:ext cx="505864" cy="505864"/>
            </a:xfrm>
            <a:custGeom>
              <a:avLst/>
              <a:gdLst/>
              <a:ahLst/>
              <a:cxnLst/>
              <a:rect l="0" t="0" r="0" b="0"/>
              <a:pathLst>
                <a:path w="505864" h="505864">
                  <a:moveTo>
                    <a:pt x="76979" y="175930"/>
                  </a:moveTo>
                  <a:lnTo>
                    <a:pt x="428884" y="175930"/>
                  </a:lnTo>
                  <a:lnTo>
                    <a:pt x="428884" y="362880"/>
                  </a:lnTo>
                  <a:lnTo>
                    <a:pt x="76979" y="362880"/>
                  </a:lnTo>
                  <a:close/>
                  <a:moveTo>
                    <a:pt x="208943" y="428884"/>
                  </a:moveTo>
                  <a:lnTo>
                    <a:pt x="76979" y="428884"/>
                  </a:lnTo>
                  <a:moveTo>
                    <a:pt x="208943" y="494867"/>
                  </a:moveTo>
                  <a:lnTo>
                    <a:pt x="76979" y="494867"/>
                  </a:lnTo>
                  <a:moveTo>
                    <a:pt x="428884" y="505864"/>
                  </a:moveTo>
                  <a:lnTo>
                    <a:pt x="428884" y="428884"/>
                  </a:lnTo>
                  <a:lnTo>
                    <a:pt x="274926" y="428884"/>
                  </a:lnTo>
                  <a:lnTo>
                    <a:pt x="274926" y="505864"/>
                  </a:lnTo>
                  <a:moveTo>
                    <a:pt x="428884" y="362902"/>
                  </a:moveTo>
                  <a:lnTo>
                    <a:pt x="353664" y="268767"/>
                  </a:lnTo>
                  <a:cubicBezTo>
                    <a:pt x="342749" y="255124"/>
                    <a:pt x="326389" y="246967"/>
                    <a:pt x="308923" y="246458"/>
                  </a:cubicBezTo>
                  <a:cubicBezTo>
                    <a:pt x="291458" y="245950"/>
                    <a:pt x="274652" y="253142"/>
                    <a:pt x="262961" y="266128"/>
                  </a:cubicBezTo>
                  <a:lnTo>
                    <a:pt x="175952" y="362902"/>
                  </a:lnTo>
                  <a:moveTo>
                    <a:pt x="142961" y="252910"/>
                  </a:moveTo>
                  <a:cubicBezTo>
                    <a:pt x="142961" y="258983"/>
                    <a:pt x="147885" y="263907"/>
                    <a:pt x="153958" y="263907"/>
                  </a:cubicBezTo>
                  <a:cubicBezTo>
                    <a:pt x="160032" y="263907"/>
                    <a:pt x="164955" y="258983"/>
                    <a:pt x="164955" y="252910"/>
                  </a:cubicBezTo>
                  <a:cubicBezTo>
                    <a:pt x="164955" y="246836"/>
                    <a:pt x="160032" y="241912"/>
                    <a:pt x="153958" y="241912"/>
                  </a:cubicBezTo>
                  <a:cubicBezTo>
                    <a:pt x="147885" y="241912"/>
                    <a:pt x="142961" y="246836"/>
                    <a:pt x="142961" y="252910"/>
                  </a:cubicBezTo>
                  <a:moveTo>
                    <a:pt x="0" y="505864"/>
                  </a:moveTo>
                  <a:lnTo>
                    <a:pt x="0" y="43988"/>
                  </a:lnTo>
                  <a:cubicBezTo>
                    <a:pt x="0" y="19694"/>
                    <a:pt x="19694" y="0"/>
                    <a:pt x="43988" y="0"/>
                  </a:cubicBezTo>
                  <a:lnTo>
                    <a:pt x="461875" y="0"/>
                  </a:lnTo>
                  <a:cubicBezTo>
                    <a:pt x="486169" y="0"/>
                    <a:pt x="505864" y="19694"/>
                    <a:pt x="505864" y="43988"/>
                  </a:cubicBezTo>
                  <a:lnTo>
                    <a:pt x="505864" y="505864"/>
                  </a:lnTo>
                  <a:moveTo>
                    <a:pt x="505864" y="109970"/>
                  </a:moveTo>
                  <a:lnTo>
                    <a:pt x="0" y="109970"/>
                  </a:lnTo>
                  <a:moveTo>
                    <a:pt x="76979" y="49486"/>
                  </a:moveTo>
                  <a:cubicBezTo>
                    <a:pt x="80016" y="49486"/>
                    <a:pt x="82477" y="51948"/>
                    <a:pt x="82477" y="54985"/>
                  </a:cubicBezTo>
                  <a:cubicBezTo>
                    <a:pt x="82477" y="58021"/>
                    <a:pt x="80016" y="60483"/>
                    <a:pt x="76979" y="60483"/>
                  </a:cubicBezTo>
                  <a:cubicBezTo>
                    <a:pt x="73942" y="60483"/>
                    <a:pt x="71480" y="58021"/>
                    <a:pt x="71480" y="54985"/>
                  </a:cubicBezTo>
                  <a:cubicBezTo>
                    <a:pt x="71480" y="51948"/>
                    <a:pt x="73942" y="49486"/>
                    <a:pt x="76979" y="49486"/>
                  </a:cubicBezTo>
                  <a:moveTo>
                    <a:pt x="142961" y="49486"/>
                  </a:moveTo>
                  <a:cubicBezTo>
                    <a:pt x="145998" y="49486"/>
                    <a:pt x="148460" y="51948"/>
                    <a:pt x="148460" y="54985"/>
                  </a:cubicBezTo>
                  <a:cubicBezTo>
                    <a:pt x="148460" y="58021"/>
                    <a:pt x="145998" y="60483"/>
                    <a:pt x="142961" y="60483"/>
                  </a:cubicBezTo>
                  <a:cubicBezTo>
                    <a:pt x="139924" y="60483"/>
                    <a:pt x="137463" y="58021"/>
                    <a:pt x="137463" y="54985"/>
                  </a:cubicBezTo>
                  <a:cubicBezTo>
                    <a:pt x="137463" y="51948"/>
                    <a:pt x="139924" y="49486"/>
                    <a:pt x="142961" y="49486"/>
                  </a:cubicBezTo>
                  <a:moveTo>
                    <a:pt x="208943" y="49486"/>
                  </a:moveTo>
                  <a:cubicBezTo>
                    <a:pt x="211980" y="49486"/>
                    <a:pt x="214442" y="51948"/>
                    <a:pt x="214442" y="54985"/>
                  </a:cubicBezTo>
                  <a:cubicBezTo>
                    <a:pt x="214442" y="58021"/>
                    <a:pt x="211980" y="60483"/>
                    <a:pt x="208943" y="60483"/>
                  </a:cubicBezTo>
                  <a:cubicBezTo>
                    <a:pt x="205907" y="60483"/>
                    <a:pt x="203445" y="58021"/>
                    <a:pt x="203445" y="54985"/>
                  </a:cubicBezTo>
                  <a:cubicBezTo>
                    <a:pt x="203445" y="51948"/>
                    <a:pt x="205907" y="49486"/>
                    <a:pt x="208943" y="49486"/>
                  </a:cubicBezTo>
                </a:path>
              </a:pathLst>
            </a:custGeom>
            <a:noFill/>
            <a:ln w="16494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2264863" y="1637866"/>
              <a:ext cx="1376924" cy="527855"/>
              <a:chOff x="2270673" y="1505903"/>
              <a:chExt cx="1376924" cy="527855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2270673" y="1505903"/>
                <a:ext cx="1376924" cy="2638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700" b="0" dirty="0">
                    <a:solidFill>
                      <a:srgbClr val="4E88E7"/>
                    </a:solidFill>
                    <a:latin typeface="Roboto"/>
                  </a:rPr>
                  <a:t>Visit portfolio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270673" y="1769745"/>
                <a:ext cx="1376924" cy="2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700" b="0">
                    <a:solidFill>
                      <a:srgbClr val="4E88E7"/>
                    </a:solidFill>
                    <a:latin typeface="Roboto"/>
                  </a:rPr>
                  <a:t>website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2264863" y="2297686"/>
              <a:ext cx="2114550" cy="791783"/>
              <a:chOff x="2270673" y="2165723"/>
              <a:chExt cx="2114550" cy="791783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2270673" y="2165723"/>
                <a:ext cx="2114550" cy="1979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200" b="0">
                    <a:solidFill>
                      <a:srgbClr val="484848"/>
                    </a:solidFill>
                    <a:latin typeface="Roboto"/>
                  </a:rPr>
                  <a:t>Connect and view interactive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270673" y="2363652"/>
                <a:ext cx="2114550" cy="1979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200" b="0">
                    <a:solidFill>
                      <a:srgbClr val="484848"/>
                    </a:solidFill>
                    <a:latin typeface="Roboto"/>
                  </a:rPr>
                  <a:t>dashboards, projects, and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2270673" y="2561582"/>
                <a:ext cx="2114550" cy="1979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200" b="0" dirty="0">
                    <a:solidFill>
                      <a:srgbClr val="484848"/>
                    </a:solidFill>
                    <a:latin typeface="Roboto"/>
                  </a:rPr>
                  <a:t>certifications at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2270673" y="2759511"/>
                <a:ext cx="2114550" cy="197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200" b="0" i="1" dirty="0" err="1">
                    <a:solidFill>
                      <a:srgbClr val="484848"/>
                    </a:solidFill>
                    <a:latin typeface="Roboto"/>
                  </a:rPr>
                  <a:t>hasnatsaifullah.netlify.app</a:t>
                </a:r>
                <a:endParaRPr sz="1200" b="0" i="1" dirty="0">
                  <a:solidFill>
                    <a:srgbClr val="484848"/>
                  </a:solidFill>
                  <a:latin typeface="Roboto"/>
                </a:endParaRP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7C17C12-C5A3-F7AE-600E-9BB01E78D250}"/>
              </a:ext>
            </a:extLst>
          </p:cNvPr>
          <p:cNvGrpSpPr/>
          <p:nvPr/>
        </p:nvGrpSpPr>
        <p:grpSpPr>
          <a:xfrm>
            <a:off x="1596987" y="1538893"/>
            <a:ext cx="5950026" cy="3101168"/>
            <a:chOff x="1596987" y="1538893"/>
            <a:chExt cx="5950026" cy="3101168"/>
          </a:xfrm>
        </p:grpSpPr>
        <p:grpSp>
          <p:nvGrpSpPr>
            <p:cNvPr id="5" name="Group 4"/>
            <p:cNvGrpSpPr/>
            <p:nvPr/>
          </p:nvGrpSpPr>
          <p:grpSpPr>
            <a:xfrm>
              <a:off x="5149033" y="1538893"/>
              <a:ext cx="2397975" cy="3101168"/>
              <a:chOff x="5154843" y="1406930"/>
              <a:chExt cx="2397975" cy="3101168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6161540" y="1406930"/>
                <a:ext cx="1391278" cy="1006697"/>
              </a:xfrm>
              <a:custGeom>
                <a:avLst/>
                <a:gdLst/>
                <a:ahLst/>
                <a:cxnLst/>
                <a:rect l="0" t="0" r="0" b="0"/>
                <a:pathLst>
                  <a:path w="1391278" h="1006697">
                    <a:moveTo>
                      <a:pt x="0" y="0"/>
                    </a:moveTo>
                    <a:lnTo>
                      <a:pt x="384581" y="0"/>
                    </a:lnTo>
                    <a:lnTo>
                      <a:pt x="1391278" y="1006697"/>
                    </a:lnTo>
                    <a:lnTo>
                      <a:pt x="1006697" y="1006697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A5DE5">
                  <a:alpha val="2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" name="Rounded Rectangle 2"/>
              <p:cNvSpPr/>
              <p:nvPr/>
            </p:nvSpPr>
            <p:spPr>
              <a:xfrm>
                <a:off x="6704541" y="2413637"/>
                <a:ext cx="374780" cy="2094461"/>
              </a:xfrm>
              <a:custGeom>
                <a:avLst/>
                <a:gdLst/>
                <a:ahLst/>
                <a:cxnLst/>
                <a:rect l="0" t="0" r="0" b="0"/>
                <a:pathLst>
                  <a:path w="374780" h="2094461">
                    <a:moveTo>
                      <a:pt x="33870" y="708831"/>
                    </a:moveTo>
                    <a:lnTo>
                      <a:pt x="297799" y="708831"/>
                    </a:lnTo>
                    <a:lnTo>
                      <a:pt x="0" y="405374"/>
                    </a:lnTo>
                    <a:lnTo>
                      <a:pt x="0" y="0"/>
                    </a:lnTo>
                    <a:lnTo>
                      <a:pt x="374780" y="0"/>
                    </a:lnTo>
                    <a:lnTo>
                      <a:pt x="374780" y="2094461"/>
                    </a:lnTo>
                    <a:lnTo>
                      <a:pt x="33870" y="2094461"/>
                    </a:lnTo>
                    <a:lnTo>
                      <a:pt x="33870" y="708831"/>
                    </a:lnTo>
                  </a:path>
                </a:pathLst>
              </a:custGeom>
              <a:solidFill>
                <a:srgbClr val="BA5DE5">
                  <a:alpha val="2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" name="Rounded Rectangle 3"/>
              <p:cNvSpPr/>
              <p:nvPr/>
            </p:nvSpPr>
            <p:spPr>
              <a:xfrm>
                <a:off x="5154843" y="1406930"/>
                <a:ext cx="2013404" cy="3101168"/>
              </a:xfrm>
              <a:custGeom>
                <a:avLst/>
                <a:gdLst/>
                <a:ahLst/>
                <a:cxnLst/>
                <a:rect l="0" t="0" r="0" b="0"/>
                <a:pathLst>
                  <a:path w="2013404" h="3101168">
                    <a:moveTo>
                      <a:pt x="1006697" y="0"/>
                    </a:moveTo>
                    <a:lnTo>
                      <a:pt x="0" y="1006697"/>
                    </a:lnTo>
                    <a:lnTo>
                      <a:pt x="197948" y="1006697"/>
                    </a:lnTo>
                    <a:lnTo>
                      <a:pt x="478840" y="725804"/>
                    </a:lnTo>
                    <a:lnTo>
                      <a:pt x="863422" y="725804"/>
                    </a:lnTo>
                    <a:lnTo>
                      <a:pt x="1549641" y="1412024"/>
                    </a:lnTo>
                    <a:lnTo>
                      <a:pt x="1549641" y="1006697"/>
                    </a:lnTo>
                    <a:lnTo>
                      <a:pt x="2013404" y="1006697"/>
                    </a:lnTo>
                    <a:lnTo>
                      <a:pt x="1006697" y="0"/>
                    </a:lnTo>
                    <a:moveTo>
                      <a:pt x="1583578" y="1715538"/>
                    </a:moveTo>
                    <a:lnTo>
                      <a:pt x="1395383" y="1715538"/>
                    </a:lnTo>
                    <a:lnTo>
                      <a:pt x="1395383" y="3101168"/>
                    </a:lnTo>
                    <a:lnTo>
                      <a:pt x="1583578" y="3101168"/>
                    </a:lnTo>
                    <a:lnTo>
                      <a:pt x="1583578" y="1715538"/>
                    </a:lnTo>
                  </a:path>
                </a:pathLst>
              </a:custGeom>
              <a:solidFill>
                <a:srgbClr val="BA5DE5">
                  <a:alpha val="20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5149033" y="1538893"/>
              <a:ext cx="2397980" cy="3101166"/>
              <a:chOff x="5154843" y="1406930"/>
              <a:chExt cx="2397980" cy="3101166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6161540" y="1406930"/>
                <a:ext cx="1391283" cy="1006701"/>
              </a:xfrm>
              <a:custGeom>
                <a:avLst/>
                <a:gdLst/>
                <a:ahLst/>
                <a:cxnLst/>
                <a:rect l="0" t="0" r="0" b="0"/>
                <a:pathLst>
                  <a:path w="1391283" h="1006701">
                    <a:moveTo>
                      <a:pt x="0" y="0"/>
                    </a:moveTo>
                    <a:lnTo>
                      <a:pt x="384582" y="0"/>
                    </a:lnTo>
                    <a:lnTo>
                      <a:pt x="1391283" y="1006701"/>
                    </a:lnTo>
                    <a:lnTo>
                      <a:pt x="1006701" y="100670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6494">
                <a:solidFill>
                  <a:srgbClr val="BA5DE5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6704540" y="2413632"/>
                <a:ext cx="374785" cy="2094464"/>
              </a:xfrm>
              <a:custGeom>
                <a:avLst/>
                <a:gdLst/>
                <a:ahLst/>
                <a:cxnLst/>
                <a:rect l="0" t="0" r="0" b="0"/>
                <a:pathLst>
                  <a:path w="374785" h="2094464">
                    <a:moveTo>
                      <a:pt x="33871" y="708836"/>
                    </a:moveTo>
                    <a:lnTo>
                      <a:pt x="297801" y="708836"/>
                    </a:lnTo>
                    <a:lnTo>
                      <a:pt x="0" y="405378"/>
                    </a:lnTo>
                    <a:lnTo>
                      <a:pt x="0" y="0"/>
                    </a:lnTo>
                    <a:lnTo>
                      <a:pt x="374785" y="0"/>
                    </a:lnTo>
                    <a:lnTo>
                      <a:pt x="374785" y="2094464"/>
                    </a:lnTo>
                    <a:lnTo>
                      <a:pt x="33871" y="2094464"/>
                    </a:lnTo>
                    <a:lnTo>
                      <a:pt x="33871" y="708836"/>
                    </a:lnTo>
                    <a:close/>
                  </a:path>
                </a:pathLst>
              </a:custGeom>
              <a:noFill/>
              <a:ln w="16494">
                <a:solidFill>
                  <a:srgbClr val="BA5DE5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5154843" y="1406930"/>
                <a:ext cx="2013401" cy="3101166"/>
              </a:xfrm>
              <a:custGeom>
                <a:avLst/>
                <a:gdLst/>
                <a:ahLst/>
                <a:cxnLst/>
                <a:rect l="0" t="0" r="0" b="0"/>
                <a:pathLst>
                  <a:path w="2013401" h="3101166">
                    <a:moveTo>
                      <a:pt x="1006700" y="0"/>
                    </a:moveTo>
                    <a:lnTo>
                      <a:pt x="0" y="1006700"/>
                    </a:lnTo>
                    <a:lnTo>
                      <a:pt x="197946" y="1006700"/>
                    </a:lnTo>
                    <a:lnTo>
                      <a:pt x="478842" y="725804"/>
                    </a:lnTo>
                    <a:lnTo>
                      <a:pt x="863420" y="725804"/>
                    </a:lnTo>
                    <a:lnTo>
                      <a:pt x="1549641" y="1412023"/>
                    </a:lnTo>
                    <a:lnTo>
                      <a:pt x="1549641" y="1006700"/>
                    </a:lnTo>
                    <a:lnTo>
                      <a:pt x="2013401" y="1006700"/>
                    </a:lnTo>
                    <a:lnTo>
                      <a:pt x="1006700" y="0"/>
                    </a:lnTo>
                    <a:close/>
                    <a:moveTo>
                      <a:pt x="1583574" y="1715539"/>
                    </a:moveTo>
                    <a:lnTo>
                      <a:pt x="1395384" y="1715539"/>
                    </a:lnTo>
                    <a:lnTo>
                      <a:pt x="1395384" y="3101166"/>
                    </a:lnTo>
                    <a:lnTo>
                      <a:pt x="1583574" y="3101166"/>
                    </a:lnTo>
                    <a:lnTo>
                      <a:pt x="1583574" y="1715539"/>
                    </a:lnTo>
                    <a:close/>
                  </a:path>
                </a:pathLst>
              </a:custGeom>
              <a:noFill/>
              <a:ln w="16494">
                <a:solidFill>
                  <a:srgbClr val="BA5DE5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8" name="Rounded Rectangle 27"/>
            <p:cNvSpPr/>
            <p:nvPr/>
          </p:nvSpPr>
          <p:spPr>
            <a:xfrm>
              <a:off x="1596987" y="3364400"/>
              <a:ext cx="505864" cy="505864"/>
            </a:xfrm>
            <a:custGeom>
              <a:avLst/>
              <a:gdLst/>
              <a:ahLst/>
              <a:cxnLst/>
              <a:rect l="0" t="0" r="0" b="0"/>
              <a:pathLst>
                <a:path w="505864" h="505864">
                  <a:moveTo>
                    <a:pt x="0" y="252932"/>
                  </a:moveTo>
                  <a:cubicBezTo>
                    <a:pt x="0" y="392622"/>
                    <a:pt x="113241" y="505864"/>
                    <a:pt x="252932" y="505864"/>
                  </a:cubicBezTo>
                  <a:cubicBezTo>
                    <a:pt x="392622" y="505864"/>
                    <a:pt x="505864" y="392622"/>
                    <a:pt x="505864" y="252932"/>
                  </a:cubicBezTo>
                  <a:cubicBezTo>
                    <a:pt x="505864" y="113241"/>
                    <a:pt x="392622" y="0"/>
                    <a:pt x="252932" y="0"/>
                  </a:cubicBezTo>
                  <a:cubicBezTo>
                    <a:pt x="113241" y="0"/>
                    <a:pt x="0" y="113241"/>
                    <a:pt x="0" y="252932"/>
                  </a:cubicBezTo>
                  <a:moveTo>
                    <a:pt x="109970" y="109970"/>
                  </a:moveTo>
                  <a:lnTo>
                    <a:pt x="153958" y="109970"/>
                  </a:lnTo>
                  <a:cubicBezTo>
                    <a:pt x="153958" y="109970"/>
                    <a:pt x="164955" y="109970"/>
                    <a:pt x="164955" y="120967"/>
                  </a:cubicBezTo>
                  <a:lnTo>
                    <a:pt x="164955" y="384896"/>
                  </a:lnTo>
                  <a:cubicBezTo>
                    <a:pt x="164955" y="384896"/>
                    <a:pt x="164955" y="395893"/>
                    <a:pt x="153958" y="395893"/>
                  </a:cubicBezTo>
                  <a:lnTo>
                    <a:pt x="109970" y="395893"/>
                  </a:lnTo>
                  <a:cubicBezTo>
                    <a:pt x="109970" y="395893"/>
                    <a:pt x="98973" y="395893"/>
                    <a:pt x="98973" y="384896"/>
                  </a:cubicBezTo>
                  <a:lnTo>
                    <a:pt x="98973" y="120967"/>
                  </a:lnTo>
                  <a:cubicBezTo>
                    <a:pt x="98973" y="120967"/>
                    <a:pt x="98973" y="109970"/>
                    <a:pt x="109970" y="109970"/>
                  </a:cubicBezTo>
                  <a:moveTo>
                    <a:pt x="283503" y="191348"/>
                  </a:moveTo>
                  <a:cubicBezTo>
                    <a:pt x="347286" y="145820"/>
                    <a:pt x="417887" y="179251"/>
                    <a:pt x="417887" y="252932"/>
                  </a:cubicBezTo>
                  <a:lnTo>
                    <a:pt x="417887" y="384896"/>
                  </a:lnTo>
                  <a:cubicBezTo>
                    <a:pt x="417887" y="390970"/>
                    <a:pt x="412964" y="395893"/>
                    <a:pt x="406890" y="395893"/>
                  </a:cubicBezTo>
                  <a:lnTo>
                    <a:pt x="373899" y="395893"/>
                  </a:lnTo>
                  <a:cubicBezTo>
                    <a:pt x="367826" y="395893"/>
                    <a:pt x="362902" y="390970"/>
                    <a:pt x="362902" y="384896"/>
                  </a:cubicBezTo>
                  <a:lnTo>
                    <a:pt x="362902" y="263929"/>
                  </a:lnTo>
                  <a:cubicBezTo>
                    <a:pt x="360600" y="247532"/>
                    <a:pt x="349813" y="233568"/>
                    <a:pt x="334530" y="227198"/>
                  </a:cubicBezTo>
                  <a:cubicBezTo>
                    <a:pt x="321782" y="220789"/>
                    <a:pt x="306624" y="221445"/>
                    <a:pt x="294477" y="228930"/>
                  </a:cubicBezTo>
                  <a:cubicBezTo>
                    <a:pt x="282331" y="236415"/>
                    <a:pt x="274931" y="249661"/>
                    <a:pt x="274926" y="263929"/>
                  </a:cubicBezTo>
                  <a:lnTo>
                    <a:pt x="274926" y="384896"/>
                  </a:lnTo>
                  <a:cubicBezTo>
                    <a:pt x="274926" y="390970"/>
                    <a:pt x="270002" y="395893"/>
                    <a:pt x="263929" y="395893"/>
                  </a:cubicBezTo>
                  <a:lnTo>
                    <a:pt x="230937" y="395893"/>
                  </a:lnTo>
                  <a:cubicBezTo>
                    <a:pt x="224864" y="395893"/>
                    <a:pt x="219940" y="390970"/>
                    <a:pt x="219940" y="384896"/>
                  </a:cubicBezTo>
                  <a:lnTo>
                    <a:pt x="219940" y="186949"/>
                  </a:lnTo>
                  <a:cubicBezTo>
                    <a:pt x="219940" y="180876"/>
                    <a:pt x="224864" y="175952"/>
                    <a:pt x="230937" y="175952"/>
                  </a:cubicBezTo>
                  <a:lnTo>
                    <a:pt x="263929" y="175952"/>
                  </a:lnTo>
                  <a:cubicBezTo>
                    <a:pt x="270002" y="175952"/>
                    <a:pt x="274926" y="180876"/>
                    <a:pt x="274926" y="186949"/>
                  </a:cubicBezTo>
                  <a:cubicBezTo>
                    <a:pt x="275073" y="188805"/>
                    <a:pt x="276149" y="190460"/>
                    <a:pt x="277785" y="191348"/>
                  </a:cubicBezTo>
                  <a:cubicBezTo>
                    <a:pt x="279566" y="192326"/>
                    <a:pt x="281723" y="192326"/>
                    <a:pt x="283503" y="191348"/>
                  </a:cubicBezTo>
                  <a:close/>
                </a:path>
              </a:pathLst>
            </a:custGeom>
            <a:noFill/>
            <a:ln w="16494">
              <a:solidFill>
                <a:srgbClr val="BA5DE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264863" y="3353401"/>
              <a:ext cx="1996097" cy="263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700" b="0">
                  <a:solidFill>
                    <a:srgbClr val="BA5DE5"/>
                  </a:solidFill>
                  <a:latin typeface="Roboto"/>
                </a:rPr>
                <a:t>Connect on LinkedIn</a:t>
              </a: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2264863" y="3749295"/>
              <a:ext cx="2160917" cy="791783"/>
              <a:chOff x="2270673" y="3617332"/>
              <a:chExt cx="2160917" cy="791783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2270673" y="3617332"/>
                <a:ext cx="2160917" cy="1979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200" b="0">
                    <a:solidFill>
                      <a:srgbClr val="484848"/>
                    </a:solidFill>
                    <a:latin typeface="Roboto"/>
                  </a:rPr>
                  <a:t>View professional profile and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2270673" y="3815261"/>
                <a:ext cx="2160917" cy="1979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1200" b="0">
                    <a:solidFill>
                      <a:srgbClr val="484848"/>
                    </a:solidFill>
                    <a:latin typeface="Roboto"/>
                  </a:rPr>
                  <a:t>network at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2270673" y="4013191"/>
                <a:ext cx="2160917" cy="1979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r>
                  <a:rPr sz="1200" b="0" i="1" dirty="0">
                    <a:solidFill>
                      <a:srgbClr val="484848"/>
                    </a:solidFill>
                    <a:latin typeface="Roboto"/>
                  </a:rPr>
                  <a:t>https://www.linkedin.com/in/</a:t>
                </a:r>
                <a:r>
                  <a:rPr lang="en-US" sz="1200" i="1" dirty="0">
                    <a:solidFill>
                      <a:srgbClr val="484848"/>
                    </a:solidFill>
                    <a:latin typeface="Roboto"/>
                  </a:rPr>
                  <a:t>hasnatsaifullah/</a:t>
                </a:r>
              </a:p>
              <a:p>
                <a:pPr algn="l"/>
                <a:endParaRPr sz="1200" b="0" i="1" dirty="0">
                  <a:solidFill>
                    <a:srgbClr val="484848"/>
                  </a:solidFill>
                  <a:latin typeface="Roboto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270673" y="4211120"/>
                <a:ext cx="2160917" cy="197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endParaRPr sz="1200" b="0" i="1" dirty="0">
                  <a:solidFill>
                    <a:srgbClr val="484848"/>
                  </a:solidFill>
                  <a:latin typeface="Roboto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270</Words>
  <Application>Microsoft Office PowerPoint</Application>
  <PresentationFormat>On-screen Show (16:9)</PresentationFormat>
  <Paragraphs>85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hasnat</dc:creator>
  <cp:keywords/>
  <dc:description>generated using python-pptx</dc:description>
  <cp:lastModifiedBy>Hasnat Saifullah</cp:lastModifiedBy>
  <cp:revision>4</cp:revision>
  <dcterms:created xsi:type="dcterms:W3CDTF">2013-01-27T09:14:16Z</dcterms:created>
  <dcterms:modified xsi:type="dcterms:W3CDTF">2026-07-28T05:10:43Z</dcterms:modified>
  <cp:category/>
</cp:coreProperties>
</file>